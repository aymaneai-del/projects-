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09d5fa-e06a-8d4d-dae9-3bb0613cc46b}">
          <p14:sldIdLst>
            <p14:sldId id="256"/>
            <p14:sldId id="257"/>
            <p14:sldId id="258"/>
          </p14:sldIdLst>
        </p14:section>
        <p14:section name="Audit SEO" id="{66eb115c-47e8-4f2d-1d7f-18bbe25ec852}">
          <p14:sldIdLst>
            <p14:sldId id="259"/>
            <p14:sldId id="260"/>
            <p14:sldId id="261"/>
            <p14:sldId id="262"/>
          </p14:sldIdLst>
        </p14:section>
        <p14:section name="Revue de marque" id="{7345b59f-6350-e6d7-197b-82b79e00c887}">
          <p14:sldIdLst>
            <p14:sldId id="263"/>
            <p14:sldId id="264"/>
            <p14:sldId id="265"/>
            <p14:sldId id="266"/>
          </p14:sldIdLst>
        </p14:section>
        <p14:section name="Plan d'action" id="{a43568d4-0165-b7a2-6370-d6f33f57e02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0F66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B0F66"/>
                </a:solidFill>
                <a:latin typeface="+mj-lt"/>
              </a:rPr>
              <a:t>Pages en français par pays (sitemap)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 FR par pays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Algérie</c:v>
                  </c:pt>
                  <c:pt idx="1">
                    <c:v>Tunisie</c:v>
                  </c:pt>
                  <c:pt idx="2">
                    <c:v>Maroc</c:v>
                  </c:pt>
                  <c:pt idx="3">
                    <c:v>Sénégal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1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3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3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 : état des lieux du site Maroc côté SEO et côté marque. Périmètre : les 13 pages Maroc dans 3 langues. Pas de données internes (Search Console, analytics) : l'audit se base sur ce qui est public et mesurable.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site est techniquement bien construit : le problème n'est pas l'infrastructure mais le contenu local et la qualité rédactionnelle. Les corrections de marque sont rapides et visibles ; les pages villes sont le vrai levier de trafic.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Être transparent sur les limites : les chiffres de vitesse et de structure sont mesurés ; les opportunités de mots-clés sont des estimations à valider.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site (Astro) est rapide. Ce n'est pas là qu'il faut investir en priorité. Le TBT de l'accueil est le seul indicateur au-dessus du seuil.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alt vides ne pénalisent pas l'accessibilité (images décoratives), mais c'est une opportunité manquée sur Google Images pour les visuels produits.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principal levier SEO : les recherches de livraison et de taxi sont locales (« livraison repas Casablanca »). Sans page ville, Yassir ne peut pas se positionner dessus.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requêtes sont des hypothèses construites à partir des services et des villes de Yassir au Maroc. Elles servent à cadrer les pages villes ; les volumes réels décideront de l'ordre de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fautes dans les H1 sont vues par tous les visiteurs et par Google. La double graphie arabe du nom affaiblit la reconnaissance de marque : il faut trancher (ياسير ou يسير) et l'appliquer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Corrections faisables en une heure par l'équipe contenu. Pour l'arabe, faire valider par un rédacteur natif.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VTC est le plus sensible au vu de l'historique réglementaire à Casablanca. Il ne s'agit pas d'une conclusion juridique : c'est un signal à faire arbitrer.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importante : le compte Instagram marocain est @yassir.ma, relié depuis le site. En revanche, aucun compte TikTok n'est relié.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actions de la semaine ne demandent aucun budget. Les pages villes dépendent de l'arbitrage sur les volumes (Search Console) et des ressources rédactionnelles.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 à l'équipe : un accès Search Console en lecture suffit pour transformer les estimations de mots-clés en données réelles.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Yassir Maroc · Audit SEO et revue de marque · Octobre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Yassir Maroc : audit SEO et revue de marque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Site yassir.com, versions Maroc en français, arabe et anglais (39 pages)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Analyse du 24 octobre 2026</a:t>
            </a:r>
            <a:endParaRPr lang="en-US" sz="1800" dirty="0"/>
          </a:p>
        </p:txBody>
      </p:sp>
      <p:sp>
        <p:nvSpPr>
          <p:cNvPr id="4" name="Audit circle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udit icon" descr="Au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287475"/>
            <a:ext cx="351130" cy="351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en trois messages</a:t>
            </a:r>
            <a:endParaRPr lang="en-US" sz="3600" dirty="0"/>
          </a:p>
        </p:txBody>
      </p:sp>
      <p:sp>
        <p:nvSpPr>
          <p:cNvPr id="3" name="Message 1"/>
          <p:cNvSpPr/>
          <p:nvPr/>
        </p:nvSpPr>
        <p:spPr>
          <a:xfrm>
            <a:off x="54864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Technique : solide circle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echnique : solide icon" descr="Technique : so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961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Technique : solide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Lighthouse mobile de 94 à 99 en performance, 100/100 en SEO. Hreflang correct sur les 159 URLs testées.</a:t>
            </a:r>
            <a:endParaRPr lang="en-US" sz="1500" dirty="0"/>
          </a:p>
        </p:txBody>
      </p:sp>
      <p:sp>
        <p:nvSpPr>
          <p:cNvPr id="8" name="Message 2"/>
          <p:cNvSpPr/>
          <p:nvPr/>
        </p:nvSpPr>
        <p:spPr>
          <a:xfrm>
            <a:off x="429768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Contenu Maroc : trop mince circle"/>
          <p:cNvSpPr/>
          <p:nvPr/>
        </p:nvSpPr>
        <p:spPr>
          <a:xfrm>
            <a:off x="4617720" y="1783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Contenu Maroc : trop mince icon" descr="Contenu Maroc : trop mi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19613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Contenu Maroc : trop mince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13 pages par langue contre 20 pour l'Algérie. Aucune page par ville, aucun article dédié au Maroc.</a:t>
            </a:r>
            <a:endParaRPr lang="en-US" sz="1500" dirty="0"/>
          </a:p>
        </p:txBody>
      </p:sp>
      <p:sp>
        <p:nvSpPr>
          <p:cNvPr id="13" name="Message 3"/>
          <p:cNvSpPr/>
          <p:nvPr/>
        </p:nvSpPr>
        <p:spPr>
          <a:xfrm>
            <a:off x="804672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arque : finitions à reprendre circle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Marque : finitions à reprendre icon" descr="Marque : finitions à reprend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19613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Marque : finitions à reprendre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Fautes visibles jusque dans des titres H1, nom arabe écrit de deux façons, chiffres contradictoires, mot « VTC » à risque.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Priorité 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corriger les fautes et lever le risque juridique cette semaine, puis lancer les pages par ville ce trimestre.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et méthode</a:t>
            </a:r>
            <a:endParaRPr lang="en-US" sz="3600" dirty="0"/>
          </a:p>
        </p:txBody>
      </p:sp>
      <p:sp>
        <p:nvSpPr>
          <p:cNvPr id="3" name="39 pages analysées circle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39 pages analysées icon" descr="39 pages analys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6294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444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39 pages analysées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13 pages Maroc × 3 langues : titres, metas, H1, canonical, données structurées, images, liens.</a:t>
            </a:r>
            <a:endParaRPr lang="en-US" sz="1400" dirty="0"/>
          </a:p>
        </p:txBody>
      </p:sp>
      <p:sp>
        <p:nvSpPr>
          <p:cNvPr id="7" name="2 tests de vitesse circle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2 tests de vitesse icon" descr="2 tests de vites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7724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587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 tests de vitesse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971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Lighthouse mobile en local sur l'accueil FR et la page livraison de repas FR.</a:t>
            </a:r>
            <a:endParaRPr lang="en-US" sz="1400" dirty="0"/>
          </a:p>
        </p:txBody>
      </p:sp>
      <p:sp>
        <p:nvSpPr>
          <p:cNvPr id="11" name="159 URLs hreflang vérifiées circle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159 URLs hreflang vérifiées icon" descr="159 URLs hreflang vérifié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9154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159 URLs hreflang vérifiées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4114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version alternative déclarée a été appelée : toutes répondent en 200.</a:t>
            </a:r>
            <a:endParaRPr lang="en-US" sz="1400" dirty="0"/>
          </a:p>
        </p:txBody>
      </p:sp>
      <p:sp>
        <p:nvSpPr>
          <p:cNvPr id="15" name="Relecture du texte circle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electure du texte icon" descr="Relecture du tex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05846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873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Relecture du texte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5257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Copie FR intégrale de l'accueil, H1 et titres des pages FR, AR et EN.</a:t>
            </a:r>
            <a:endParaRPr lang="en-US" sz="1400" dirty="0"/>
          </a:p>
        </p:txBody>
      </p:sp>
      <p:sp>
        <p:nvSpPr>
          <p:cNvPr id="19" name="Limites"/>
          <p:cNvSpPr/>
          <p:nvPr/>
        </p:nvSpPr>
        <p:spPr>
          <a:xfrm>
            <a:off x="7223760" y="1463040"/>
            <a:ext cx="4389120" cy="4480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543800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Limites de cet audit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7543800" y="2286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 de volumes de recherche ni de backlinks : les connecteurs Ahrefs et Similarweb n'ont pas pu se connecter.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 d'accès à Google Search Console : positions et clics réels non mesurés.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Vitesse : un passage Lighthouse par page, valeurs indicatives (laboratoire, pas terrain).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Réseaux sociaux : seuls les liens présents sur le site ont été vérifiés.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Vitesse et SEO technique : bons scores</a:t>
            </a:r>
            <a:endParaRPr lang="en-US" sz="3600" dirty="0"/>
          </a:p>
        </p:txBody>
      </p:sp>
      <p:sp>
        <p:nvSpPr>
          <p:cNvPr id="3" name="Stat 94"/>
          <p:cNvSpPr/>
          <p:nvPr/>
        </p:nvSpPr>
        <p:spPr>
          <a:xfrm>
            <a:off x="54864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Performance mobile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Accueil FR</a:t>
            </a:r>
            <a:endParaRPr lang="en-US" sz="1200" dirty="0"/>
          </a:p>
        </p:txBody>
      </p:sp>
      <p:sp>
        <p:nvSpPr>
          <p:cNvPr id="7" name="Stat 99"/>
          <p:cNvSpPr/>
          <p:nvPr/>
        </p:nvSpPr>
        <p:spPr>
          <a:xfrm>
            <a:off x="336042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4740" y="1691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63474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Performance mobile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3474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Livraison de repas FR</a:t>
            </a:r>
            <a:endParaRPr lang="en-US" sz="1200" dirty="0"/>
          </a:p>
        </p:txBody>
      </p:sp>
      <p:sp>
        <p:nvSpPr>
          <p:cNvPr id="11" name="Stat 1,9 s"/>
          <p:cNvSpPr/>
          <p:nvPr/>
        </p:nvSpPr>
        <p:spPr>
          <a:xfrm>
            <a:off x="617220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691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 s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LCP (seuil « bon » : 2,5 s)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Accueil FR</a:t>
            </a:r>
            <a:endParaRPr lang="en-US" sz="1200" dirty="0"/>
          </a:p>
        </p:txBody>
      </p:sp>
      <p:sp>
        <p:nvSpPr>
          <p:cNvPr id="15" name="Stat 100"/>
          <p:cNvSpPr/>
          <p:nvPr/>
        </p:nvSpPr>
        <p:spPr>
          <a:xfrm>
            <a:off x="898398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58300" y="1691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925830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Score SEO Lighthouse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5830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Les deux pages</a:t>
            </a:r>
            <a:endParaRPr lang="en-US" sz="1200" dirty="0"/>
          </a:p>
        </p:txBody>
      </p:sp>
      <p:sp>
        <p:nvSpPr>
          <p:cNvPr id="19" name="Point faible circle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Point faible icon" descr="Point fai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4680814"/>
            <a:ext cx="285293" cy="28529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4526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Seul point faible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sur l'accueil, le temps de blocage (TBT) atteint 260 ms, au-dessus du seuil de 200 ms. La page compte 1 308 éléments HTML : alléger le DOM et le JavaScript du menu.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Mesures Lighthouse 12, mobile simulé, 24/10/2026. Accessibilité : 100/100 sur les deux pages.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technique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6675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Contrôle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Détail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Indexation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Conforme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HTTPS, robots.txt ouvert, sitemap index (3 fichiers, mis à jour le 24/10)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Canonical et balises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Conforme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Canonical auto-référent, titles et metas uniques sur les 39 pages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Hreflang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Conforme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FR-MA, AR-MA, EN-MA et x-default ; 159 cibles toutes en 200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Données structurées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Conforme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Organization, FAQPage et BreadcrumbList présents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Web Vitals (labo)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Conforme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LCP 1,8 à 1,9 s ; CLS proche de 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Temps de blocage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À surveiller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TBT de 260 ms sur l'accueil (seuil 200 ms)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Texte alternatif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À surveiller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81 images sur 112 avec alt vide sur l'accueil FR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Contact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À surveiller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support@yassir.ma en pied de page, support@yassir.com dans le schéma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: le Maroc est sous-équipé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0 page par ville circle"/>
          <p:cNvSpPr/>
          <p:nvPr/>
        </p:nvSpPr>
        <p:spPr>
          <a:xfrm>
            <a:off x="6583680" y="14630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0 page par ville icon" descr="0 page par vil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629461"/>
            <a:ext cx="307238" cy="30723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06640" y="1444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 page par ville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406640" y="18470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 Casablanca, ni Rabat, ni Marrakech, Tanger ou Agadir : aucune page ne cible les recherches locales.</a:t>
            </a:r>
            <a:endParaRPr lang="en-US" sz="1400" dirty="0"/>
          </a:p>
        </p:txBody>
      </p:sp>
      <p:sp>
        <p:nvSpPr>
          <p:cNvPr id="8" name="0 article sur le Maroc circle"/>
          <p:cNvSpPr/>
          <p:nvPr/>
        </p:nvSpPr>
        <p:spPr>
          <a:xfrm>
            <a:off x="6583680" y="2834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0 article sur le Maroc icon" descr="0 article sur le Maro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101" y="300106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406640" y="2816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 article sur le Maroc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406640" y="32186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29 articles et actualités du site sont globaux ou algériens.</a:t>
            </a:r>
            <a:endParaRPr lang="en-US" sz="1400" dirty="0"/>
          </a:p>
        </p:txBody>
      </p:sp>
      <p:sp>
        <p:nvSpPr>
          <p:cNvPr id="12" name="6 pages absentes circle"/>
          <p:cNvSpPr/>
          <p:nvPr/>
        </p:nvSpPr>
        <p:spPr>
          <a:xfrm>
            <a:off x="6583680" y="4206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6 pages absentes icon" descr="6 pages absent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372661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40664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 pages absentes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7406640" y="45902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Yassir Cash, Business, Business Ride, Agent, Cargo et Événements existent pour l'Algérie, pas pour le Maroc.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Certaines pages algériennes peuvent correspondre à des services non lancés au Maroc : à confirmer avec les équipes produit.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Opportunités de mots-clés (estimées)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219456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Requête cible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Intention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Demande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Page à créer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livraison repas Casablanca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Transactionnelle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Haute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ville Food Casablanca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devenir livreur Casablanca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Recrutement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Haute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livreurs par ville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 pas cher Casablanca Paris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Transactionnelle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Haute, concurrentielle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Pages par route (Travel)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livraison courses Rabat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Transactionnelle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Moyenne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ville Market Rabat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taxi aéroport Mohammed V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Transactionnelle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Moyenne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ville Ride et FAQ aéroport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application taxi Marrakech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Commerciale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Moyenne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ville Ride Marrakech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توصيل الطعام الدار البيضاء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Transactionnelle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Moyenne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Version arabe de la page ville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 promo Yassir Maroc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Navigationnelle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Moyenne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offres et promotions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Demande = estimation qualitative, aucun outil de volume n'étant connecté. À valider dans Google Search Console et Keyword Planner avant de produire du contenu.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de marque : six constats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2651760"/>
                <a:gridCol w="14630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Constat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Où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Gravité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Fautes d'orthographe : « Livrason », « progresons », « cusine », « Avanç ons »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Accueil FR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Haute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H1 fautifs : « Gagner de l'argent », « Fequently asked questions »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Chauffeurs FR, FAQ EN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Haute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Nom en arabe écrit « ياسير » dans les titres et « يسير » dans les H1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Toutes les pages 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Haute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Chiffres contradictoires : 5M+ et 8M+ téléchargements ; 3,6K et 7,7k notes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Accueil FR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Moyenne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Casse des services : « Yassir food », « yassir market »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Menu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Basse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Anglicismes : « Bienvenue à Yassir support », « au niveau supérieur »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Contact, Restaurants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Basse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Revue générale (clarté, cohérence, professionnalisme) : aucune charte de marque n'a été fournie.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/ après : corrections proposées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Aujourd'hui sur le site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Proposition</a:t>
            </a:r>
            <a:endParaRPr lang="en-US" sz="1600" dirty="0"/>
          </a:p>
        </p:txBody>
      </p:sp>
      <p:sp>
        <p:nvSpPr>
          <p:cNvPr id="5" name="Avant 1"/>
          <p:cNvSpPr/>
          <p:nvPr/>
        </p:nvSpPr>
        <p:spPr>
          <a:xfrm>
            <a:off x="548640" y="178308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Conduisez avec Yassir / Gagner de l'argent »</a:t>
            </a:r>
            <a:endParaRPr lang="en-US" sz="1400" dirty="0"/>
          </a:p>
        </p:txBody>
      </p:sp>
      <p:sp>
        <p:nvSpPr>
          <p:cNvPr id="7" name="Flèche 1"/>
          <p:cNvSpPr/>
          <p:nvPr/>
        </p:nvSpPr>
        <p:spPr>
          <a:xfrm>
            <a:off x="5852160" y="1984248"/>
            <a:ext cx="45720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Après 1"/>
          <p:cNvSpPr/>
          <p:nvPr/>
        </p:nvSpPr>
        <p:spPr>
          <a:xfrm>
            <a:off x="6492240" y="178308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783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« Conduisez avec Yassir, gagnez de l'argent »</a:t>
            </a:r>
            <a:endParaRPr lang="en-US" sz="1400" dirty="0"/>
          </a:p>
        </p:txBody>
      </p:sp>
      <p:sp>
        <p:nvSpPr>
          <p:cNvPr id="10" name="Avant 2"/>
          <p:cNvSpPr/>
          <p:nvPr/>
        </p:nvSpPr>
        <p:spPr>
          <a:xfrm>
            <a:off x="548640" y="260604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Ensemble nous progresons »</a:t>
            </a:r>
            <a:endParaRPr lang="en-US" sz="1400" dirty="0"/>
          </a:p>
        </p:txBody>
      </p:sp>
      <p:sp>
        <p:nvSpPr>
          <p:cNvPr id="12" name="Flèche 2"/>
          <p:cNvSpPr/>
          <p:nvPr/>
        </p:nvSpPr>
        <p:spPr>
          <a:xfrm>
            <a:off x="5852160" y="2807208"/>
            <a:ext cx="45720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Après 2"/>
          <p:cNvSpPr/>
          <p:nvPr/>
        </p:nvSpPr>
        <p:spPr>
          <a:xfrm>
            <a:off x="6492240" y="260604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606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« Ensemble, nous progressons »</a:t>
            </a:r>
            <a:endParaRPr lang="en-US" sz="1400" dirty="0"/>
          </a:p>
        </p:txBody>
      </p:sp>
      <p:sp>
        <p:nvSpPr>
          <p:cNvPr id="15" name="Avant 3"/>
          <p:cNvSpPr/>
          <p:nvPr/>
        </p:nvSpPr>
        <p:spPr>
          <a:xfrm>
            <a:off x="548640" y="342900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29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L'application Yassir driver est tout ce que vous avez besoin »</a:t>
            </a:r>
            <a:endParaRPr lang="en-US" sz="1400" dirty="0"/>
          </a:p>
        </p:txBody>
      </p:sp>
      <p:sp>
        <p:nvSpPr>
          <p:cNvPr id="17" name="Flèche 3"/>
          <p:cNvSpPr/>
          <p:nvPr/>
        </p:nvSpPr>
        <p:spPr>
          <a:xfrm>
            <a:off x="5852160" y="3630168"/>
            <a:ext cx="45720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Après 3"/>
          <p:cNvSpPr/>
          <p:nvPr/>
        </p:nvSpPr>
        <p:spPr>
          <a:xfrm>
            <a:off x="6492240" y="342900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429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« L'application Yassir Driver est tout ce dont vous avez besoin »</a:t>
            </a:r>
            <a:endParaRPr lang="en-US" sz="1400" dirty="0"/>
          </a:p>
        </p:txBody>
      </p:sp>
      <p:sp>
        <p:nvSpPr>
          <p:cNvPr id="20" name="Avant 4"/>
          <p:cNvSpPr/>
          <p:nvPr/>
        </p:nvSpPr>
        <p:spPr>
          <a:xfrm>
            <a:off x="548640" y="425196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Bienvenue à Yassir support »</a:t>
            </a:r>
            <a:endParaRPr lang="en-US" sz="1400" dirty="0"/>
          </a:p>
        </p:txBody>
      </p:sp>
      <p:sp>
        <p:nvSpPr>
          <p:cNvPr id="22" name="Flèche 4"/>
          <p:cNvSpPr/>
          <p:nvPr/>
        </p:nvSpPr>
        <p:spPr>
          <a:xfrm>
            <a:off x="5852160" y="4453128"/>
            <a:ext cx="45720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Après 4"/>
          <p:cNvSpPr/>
          <p:nvPr/>
        </p:nvSpPr>
        <p:spPr>
          <a:xfrm>
            <a:off x="6492240" y="425196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« Bienvenue sur le support Yassir »</a:t>
            </a:r>
            <a:endParaRPr lang="en-US" sz="1400" dirty="0"/>
          </a:p>
        </p:txBody>
      </p:sp>
      <p:sp>
        <p:nvSpPr>
          <p:cNvPr id="25" name="Avant 5"/>
          <p:cNvSpPr/>
          <p:nvPr/>
        </p:nvSpPr>
        <p:spPr>
          <a:xfrm>
            <a:off x="548640" y="507492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ارتقي بمطعمك إلى المستوى التالي »</a:t>
            </a:r>
            <a:endParaRPr lang="en-US" sz="1400" dirty="0"/>
          </a:p>
        </p:txBody>
      </p:sp>
      <p:sp>
        <p:nvSpPr>
          <p:cNvPr id="27" name="Flèche 5"/>
          <p:cNvSpPr/>
          <p:nvPr/>
        </p:nvSpPr>
        <p:spPr>
          <a:xfrm>
            <a:off x="5852160" y="5276088"/>
            <a:ext cx="45720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8" name="Après 5"/>
          <p:cNvSpPr/>
          <p:nvPr/>
        </p:nvSpPr>
        <p:spPr>
          <a:xfrm>
            <a:off x="6492240" y="5074920"/>
            <a:ext cx="51206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20840" y="5074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« ارتقِ بمطعمك إلى المستوى التالي » (impératif masculin, probable)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à faire valider par le juridique</a:t>
            </a:r>
            <a:endParaRPr lang="en-US" sz="3600" dirty="0"/>
          </a:p>
        </p:txBody>
      </p:sp>
      <p:sp>
        <p:nvSpPr>
          <p:cNvPr id="3" name="Juridique 1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« VTC » dans le titre de l'accueil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« VTC » dans le titre de l'accueil icon" descr="« VTC » dans le titre de l'accu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8918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« VTC » dans le titre de l'accueil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wilaya de Casablanca a déjà déclaré l'activité VTC de Yassir illégale. Le statut actuel n'a pas été vérifié. Si le modèle autorisé est le taxi, parler de « taxi » ou de « course ».</a:t>
            </a:r>
            <a:endParaRPr lang="en-US" sz="1400" dirty="0"/>
          </a:p>
        </p:txBody>
      </p:sp>
      <p:sp>
        <p:nvSpPr>
          <p:cNvPr id="8" name="Juridique 2"/>
          <p:cNvSpPr/>
          <p:nvPr/>
        </p:nvSpPr>
        <p:spPr>
          <a:xfrm>
            <a:off x="617220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« Livré en moins de 35 minutes » circle"/>
          <p:cNvSpPr/>
          <p:nvPr/>
        </p:nvSpPr>
        <p:spPr>
          <a:xfrm>
            <a:off x="6446520" y="17373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« Livré en moins de 35 minutes » icon" descr="« Livré en moins de 35 minutes 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054" y="18918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« Livré en moins de 35 minutes »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Promesse chiffrée sans condition. Ajouter « en moyenne » et une source, ou retirer le chiffre.</a:t>
            </a:r>
            <a:endParaRPr lang="en-US" sz="1400" dirty="0"/>
          </a:p>
        </p:txBody>
      </p:sp>
      <p:sp>
        <p:nvSpPr>
          <p:cNvPr id="13" name="Juridique 3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« Soutenue par les fondateurs de Google… » circle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« Soutenue par les fondateurs de Google… » icon" descr="« Soutenue par les fondateurs de Google… 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1778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23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« Soutenue par les fondateurs de Google… »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Phrase de l'accueil, à sourcer : nommer les investisseurs concernés ou reformuler.</a:t>
            </a:r>
            <a:endParaRPr lang="en-US" sz="1400" dirty="0"/>
          </a:p>
        </p:txBody>
      </p:sp>
      <p:sp>
        <p:nvSpPr>
          <p:cNvPr id="18" name="Juridique 4"/>
          <p:cNvSpPr/>
          <p:nvPr/>
        </p:nvSpPr>
        <p:spPr>
          <a:xfrm>
            <a:off x="617220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Chiffres mondiaux sur la page Maroc circle"/>
          <p:cNvSpPr/>
          <p:nvPr/>
        </p:nvSpPr>
        <p:spPr>
          <a:xfrm>
            <a:off x="6446520" y="40233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Chiffres mondiaux sur la page Maroc icon" descr="Chiffres mondiaux sur la page Maro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54" y="41778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4023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Chiffres mondiaux sur la page Maroc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45+ villes », « 100K+ partenaires » concernent tous les pays. Préciser « dans tous nos pays » pour ne pas tromper.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Réseaux sociaux reliés au site</a:t>
            </a:r>
            <a:endParaRPr lang="en-US" sz="3600" dirty="0"/>
          </a:p>
        </p:txBody>
      </p:sp>
      <p:sp>
        <p:nvSpPr>
          <p:cNvPr id="3" name="Facebook"/>
          <p:cNvSpPr/>
          <p:nvPr/>
        </p:nvSpPr>
        <p:spPr>
          <a:xfrm>
            <a:off x="548640" y="1463040"/>
            <a:ext cx="2066544" cy="22860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4" name="Facebook circle"/>
          <p:cNvSpPr/>
          <p:nvPr/>
        </p:nvSpPr>
        <p:spPr>
          <a:xfrm>
            <a:off x="1216152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acebook icon" descr="Face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347" y="18818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Facebook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@yassir.maroc.one</a:t>
            </a:r>
            <a:endParaRPr lang="en-US" sz="1400" dirty="0"/>
          </a:p>
        </p:txBody>
      </p:sp>
      <p:sp>
        <p:nvSpPr>
          <p:cNvPr id="8" name="Instagram"/>
          <p:cNvSpPr/>
          <p:nvPr/>
        </p:nvSpPr>
        <p:spPr>
          <a:xfrm>
            <a:off x="2798064" y="1463040"/>
            <a:ext cx="2066544" cy="22860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9" name="Instagram circle"/>
          <p:cNvSpPr/>
          <p:nvPr/>
        </p:nvSpPr>
        <p:spPr>
          <a:xfrm>
            <a:off x="3465576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nstagram icon" descr="Inst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71" y="18818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35224" y="25603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Instagram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35224" y="29718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@yassir.ma</a:t>
            </a:r>
            <a:endParaRPr lang="en-US" sz="1400" dirty="0"/>
          </a:p>
        </p:txBody>
      </p:sp>
      <p:sp>
        <p:nvSpPr>
          <p:cNvPr id="13" name="YouTube"/>
          <p:cNvSpPr/>
          <p:nvPr/>
        </p:nvSpPr>
        <p:spPr>
          <a:xfrm>
            <a:off x="5047488" y="1463040"/>
            <a:ext cx="2066544" cy="22860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4" name="YouTube circle"/>
          <p:cNvSpPr/>
          <p:nvPr/>
        </p:nvSpPr>
        <p:spPr>
          <a:xfrm>
            <a:off x="571500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YouTube icon" descr="YouTu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95" y="188183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84648" y="25603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YouTube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184648" y="29718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Chaîne groupe</a:t>
            </a:r>
            <a:endParaRPr lang="en-US" sz="1400" dirty="0"/>
          </a:p>
        </p:txBody>
      </p:sp>
      <p:sp>
        <p:nvSpPr>
          <p:cNvPr id="18" name="LinkedIn"/>
          <p:cNvSpPr/>
          <p:nvPr/>
        </p:nvSpPr>
        <p:spPr>
          <a:xfrm>
            <a:off x="7296912" y="1463040"/>
            <a:ext cx="2066544" cy="228600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9" name="LinkedIn circle"/>
          <p:cNvSpPr/>
          <p:nvPr/>
        </p:nvSpPr>
        <p:spPr>
          <a:xfrm>
            <a:off x="7964424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LinkedIn icon" descr="Linked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619" y="188183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4072" y="25603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LinkedIn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34072" y="29718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 groupe</a:t>
            </a:r>
            <a:endParaRPr lang="en-US" sz="1400" dirty="0"/>
          </a:p>
        </p:txBody>
      </p:sp>
      <p:sp>
        <p:nvSpPr>
          <p:cNvPr id="23" name="TikTok"/>
          <p:cNvSpPr/>
          <p:nvPr/>
        </p:nvSpPr>
        <p:spPr>
          <a:xfrm>
            <a:off x="9546336" y="1463040"/>
            <a:ext cx="2066544" cy="2286000"/>
          </a:xfrm>
          <a:prstGeom prst="roundRect">
            <a:avLst>
              <a:gd name="adj" fmla="val 5310"/>
            </a:avLst>
          </a:prstGeom>
          <a:solidFill>
            <a:schemeClr val="bg1"/>
          </a:solidFill>
          <a:ln/>
        </p:spPr>
      </p:sp>
      <p:sp>
        <p:nvSpPr>
          <p:cNvPr id="24" name="TikTok circle"/>
          <p:cNvSpPr/>
          <p:nvPr/>
        </p:nvSpPr>
        <p:spPr>
          <a:xfrm>
            <a:off x="10213848" y="16916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TikTok icon" descr="TikT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4043" y="1881835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83496" y="25603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TikTok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683496" y="29718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Aucun lien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Aucun lien TikTok sur les 39 pages</a:t>
            </a:r>
            <a:br/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alors que TikTok progresse de 8 points en un an au Maroc (32 % des internautes, baromètre Sunergia 2026).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Instagram @yassir.ma existe bien</a:t>
            </a:r>
            <a:br/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il figure dans le schéma Organization du site ; mon premier audit social ne l'avait pas trouvé.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Lien de téléchargement suivi avec la campagne « genreic_download_button »</a:t>
            </a:r>
            <a:br/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faute dans le nom de campagne : les rapports d'attribution seront plus difficiles à filtrer.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d'action priorisé</a:t>
            </a:r>
            <a:endParaRPr lang="en-US" sz="3600" dirty="0"/>
          </a:p>
        </p:txBody>
      </p:sp>
      <p:sp>
        <p:nvSpPr>
          <p:cNvPr id="3" name="Cette semaine"/>
          <p:cNvSpPr/>
          <p:nvPr/>
        </p:nvSpPr>
        <p:spPr>
          <a:xfrm>
            <a:off x="548640" y="141732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/>
        </p:spPr>
      </p:sp>
      <p:sp>
        <p:nvSpPr>
          <p:cNvPr id="4" name="Cette semaine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Cette semaine icon" descr="Cette sema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Cette semaine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92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Corriger les fautes et les H1 relevés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haut · 2 h · équipe contenu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Faire valider « VTC » et les promesses chiffrées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haut · 1 réunion · juridique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Fixer une graphie arabe unique du nom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haut · 1 h + mise en ligne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Unifier chiffres clés et email de contact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moyen · 1 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Relier TikTok au site et au schéma, si le compte existe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moyen · 30 min</a:t>
            </a:r>
            <a:endParaRPr lang="en-US" sz="1500" dirty="0"/>
          </a:p>
        </p:txBody>
      </p:sp>
      <p:sp>
        <p:nvSpPr>
          <p:cNvPr id="8" name="Ce trimestre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/>
        </p:spPr>
      </p:sp>
      <p:sp>
        <p:nvSpPr>
          <p:cNvPr id="9" name="Ce trimestre circle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e trimestre icon" descr="Ce trimes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17885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Ce trimestre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377440"/>
            <a:ext cx="4892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Pages villes × services × 3 langues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haut · plusieurs semaines · Casablanca d'abord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Rubrique guides et actualités Maroc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haut · continu · 2 articles par mois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Guide de marque FR / AR / darija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haut · 2 à 3 semaines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Alt text descriptifs et schéma par ville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moyen · avec les pages villes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Réduire le TBT de l'accueil</a:t>
            </a:r>
            <a:br/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Impact bas · équipe dev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Accès Google Search Console pour mesurer positions et clics réels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Validation juridique du point « VTC »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Arbitrage : ordre de lancement des pages villes (Casablanca en premier)</a:t>
            </a:r>
            <a:endParaRPr lang="en-US" sz="1800" dirty="0"/>
          </a:p>
        </p:txBody>
      </p:sp>
      <p:sp>
        <p:nvSpPr>
          <p:cNvPr id="4" name="Suite circle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uite icon" descr="Su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287475"/>
            <a:ext cx="351130" cy="3511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assir Audit">
  <a:themeElements>
    <a:clrScheme name="Yassir Audit">
      <a:dk1>
        <a:srgbClr val="1B1530"/>
      </a:dk1>
      <a:lt1>
        <a:srgbClr val="FFFFFF"/>
      </a:lt1>
      <a:dk2>
        <a:srgbClr val="2B0F66"/>
      </a:dk2>
      <a:lt2>
        <a:srgbClr val="F3EEFD"/>
      </a:lt2>
      <a:accent1>
        <a:srgbClr val="6D28D9"/>
      </a:accent1>
      <a:accent2>
        <a:srgbClr val="0E7F59"/>
      </a:accent2>
      <a:accent3>
        <a:srgbClr val="B86E00"/>
      </a:accent3>
      <a:accent4>
        <a:srgbClr val="C62F2F"/>
      </a:accent4>
      <a:accent5>
        <a:srgbClr val="6B6385"/>
      </a:accent5>
      <a:accent6>
        <a:srgbClr val="C9B8F5"/>
      </a:accent6>
      <a:hlink>
        <a:srgbClr val="6D28D9"/>
      </a:hlink>
      <a:folHlink>
        <a:srgbClr val="4C1D95"/>
      </a:folHlink>
    </a:clrScheme>
    <a:fontScheme name="Yassir Audi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Yassir Maroc - Audit SEO et revue de marque</dc:title>
  <dc:subject>PptxGenJS Presentation</dc:subject>
  <dc:creator>Service Marketing</dc:creator>
  <cp:lastModifiedBy>Service Marketing</cp:lastModifiedBy>
  <cp:revision>1</cp:revision>
  <dcterms:created xsi:type="dcterms:W3CDTF">2026-10-24T20:58:43Z</dcterms:created>
  <dcterms:modified xsi:type="dcterms:W3CDTF">2026-10-24T20:58:43Z</dcterms:modified>
</cp:coreProperties>
</file>