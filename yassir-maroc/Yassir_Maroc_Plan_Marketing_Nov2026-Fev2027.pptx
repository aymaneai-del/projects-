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drage" id="{881956c2-f76a-93a9-9889-b2830945b15d}">
          <p14:sldIdLst>
            <p14:sldId id="256"/>
            <p14:sldId id="257"/>
            <p14:sldId id="258"/>
          </p14:sldIdLst>
        </p14:section>
        <p14:section name="SEO par le marketing" id="{74e8a250-f8bc-db7e-42a2-2277f76bb427}">
          <p14:sldIdLst>
            <p14:sldId id="259"/>
            <p14:sldId id="260"/>
            <p14:sldId id="261"/>
          </p14:sldIdLst>
        </p14:section>
        <p14:section name="Campagnes ads" id="{94321f08-8541-bdc1-1e6d-7578012941fa}">
          <p14:sldIdLst>
            <p14:sldId id="262"/>
            <p14:sldId id="263"/>
            <p14:sldId id="264"/>
          </p14:sldIdLst>
        </p14:section>
        <p14:section name="Calendrier" id="{aebf9ca3-6284-7753-3b25-531f12a821c1}">
          <p14:sldIdLst>
            <p14:sldId id="265"/>
            <p14:sldId id="266"/>
          </p14:sldIdLst>
        </p14:section>
        <p14:section name="CRM et influence" id="{2a295b4d-8a1f-6d35-3ea6-067b9e5648b1}">
          <p14:sldIdLst>
            <p14:sldId id="267"/>
            <p14:sldId id="268"/>
          </p14:sldIdLst>
        </p14:section>
        <p14:section name="Plan d'action" id="{91cfd7c0-1979-d1e7-b77d-132b83e7aad0}">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0F66"/>
                </a:solidFill>
                <a:latin typeface="+mj-lt"/>
              </a:defRPr>
            </a:pPr>
            <a:r>
              <a:rPr sz="1400" b="0" i="0" u="none" strike="noStrike">
                <a:solidFill>
                  <a:srgbClr val="2B0F66"/>
                </a:solidFill>
                <a:latin typeface="+mj-lt"/>
              </a:rPr>
              <a:t>Répartition des 200 000 DH par poste</a:t>
            </a:r>
          </a:p>
        </c:rich>
      </c:tx>
      <c:layout/>
      <c:overlay val="0"/>
    </c:title>
    <c:autoTitleDeleted val="0"/>
    <c:plotArea>
      <c:layout/>
      <c:doughnutChart>
        <c:varyColors val="1"/>
        <c:ser>
          <c:idx val="0"/>
          <c:order val="0"/>
          <c:tx>
            <c:strRef>
              <c:f>Sheet1!$B$1</c:f>
              <c:strCache>
                <c:ptCount val="1"/>
                <c:pt idx="0">
                  <c:v>Répartition</c:v>
                </c:pt>
              </c:strCache>
            </c:strRef>
          </c:tx>
          <c:spPr>
            <a:solidFill>
              <a:schemeClr val="accent1"/>
            </a:solidFill>
            <a:ln w="9525" cap="flat">
              <a:solidFill>
                <a:srgbClr val="F9F9F9"/>
              </a:solidFill>
              <a:prstDash val="solid"/>
              <a:round/>
            </a:ln>
            <a:effectLst/>
          </c:spPr>
          <c:dPt>
            <c:idx val="0"/>
            <c:bubble3D val="0"/>
            <c:spPr>
              <a:solidFill>
                <a:srgbClr val="6D28D9"/>
              </a:solidFill>
              <a:effectLst/>
            </c:spPr>
          </c:dPt>
          <c:dPt>
            <c:idx val="1"/>
            <c:bubble3D val="0"/>
            <c:spPr>
              <a:solidFill>
                <a:srgbClr val="C62F2F"/>
              </a:solidFill>
              <a:effectLst/>
            </c:spPr>
          </c:dPt>
          <c:dPt>
            <c:idx val="2"/>
            <c:bubble3D val="0"/>
            <c:spPr>
              <a:solidFill>
                <a:srgbClr val="B86E00"/>
              </a:solidFill>
              <a:effectLst/>
            </c:spPr>
          </c:dPt>
          <c:dPt>
            <c:idx val="3"/>
            <c:bubble3D val="0"/>
            <c:spPr>
              <a:solidFill>
                <a:srgbClr val="0E7F59"/>
              </a:solidFill>
              <a:effectLst/>
            </c:spPr>
          </c:dPt>
          <c:dPt>
            <c:idx val="4"/>
            <c:bubble3D val="0"/>
            <c:spPr>
              <a:solidFill>
                <a:srgbClr val="2B0F66"/>
              </a:solidFill>
              <a:effectLst/>
            </c:spPr>
          </c:dPt>
          <c:dPt>
            <c:idx val="5"/>
            <c:bubble3D val="0"/>
            <c:spPr>
              <a:solidFill>
                <a:srgbClr val="C9B8F5"/>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5"/>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Média ads : 90 000</c:v>
                </c:pt>
                <c:pt idx="1">
                  <c:v>Codes bienvenue : 50 000</c:v>
                </c:pt>
                <c:pt idx="2">
                  <c:v>Influence : 25 000</c:v>
                </c:pt>
                <c:pt idx="3">
                  <c:v>CRM : 20 000</c:v>
                </c:pt>
                <c:pt idx="4">
                  <c:v>Contenu et RP : 10 000</c:v>
                </c:pt>
                <c:pt idx="5">
                  <c:v>Réserve : 5 000</c:v>
                </c:pt>
              </c:strCache>
            </c:strRef>
          </c:cat>
          <c:val>
            <c:numRef>
              <c:f>Sheet1!$B$2:$B$7</c:f>
              <c:numCache>
                <c:ptCount val="6"/>
                <c:pt idx="0">
                  <c:v>90000</c:v>
                </c:pt>
                <c:pt idx="1">
                  <c:v>50000</c:v>
                </c:pt>
                <c:pt idx="2">
                  <c:v>25000</c:v>
                </c:pt>
                <c:pt idx="3">
                  <c:v>20000</c:v>
                </c:pt>
                <c:pt idx="4">
                  <c:v>10000</c:v>
                </c:pt>
                <c:pt idx="5">
                  <c:v>5000</c:v>
                </c:pt>
              </c:numCache>
            </c:numRef>
          </c:val>
        </c:ser>
        <c:firstSliceAng val="0"/>
        <c:holeSize val="55"/>
      </c:doughnutChart>
      <c:spPr>
        <a:noFill/>
        <a:ln>
          <a:noFill/>
        </a:ln>
        <a:effectLst/>
      </c:spPr>
    </c:plotArea>
    <c:legend>
      <c:legendPos val="r"/>
      <c:overlay val="0"/>
      <c:txPr>
        <a:bodyPr/>
        <a:lstStyle/>
        <a:p>
          <a:pPr>
            <a:defRPr sz="1200">
              <a:solidFill>
                <a:srgbClr val="1B15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0F66"/>
                </a:solidFill>
                <a:latin typeface="+mj-lt"/>
              </a:defRPr>
            </a:pPr>
            <a:r>
              <a:rPr sz="1400" b="0" i="0" u="none" strike="noStrike">
                <a:solidFill>
                  <a:srgbClr val="2B0F66"/>
                </a:solidFill>
                <a:latin typeface="+mj-lt"/>
              </a:rPr>
              <a:t>Phasage mensuel (milliers de DH)</a:t>
            </a:r>
          </a:p>
        </c:rich>
      </c:tx>
      <c:layout/>
      <c:overlay val="0"/>
    </c:title>
    <c:autoTitleDeleted val="0"/>
    <c:plotArea>
      <c:layout/>
      <c:barChart>
        <c:barDir val="col"/>
        <c:grouping val="clustered"/>
        <c:varyColors val="0"/>
        <c:ser>
          <c:idx val="0"/>
          <c:order val="0"/>
          <c:tx>
            <c:strRef>
              <c:f>Sheet1!$B$1</c:f>
              <c:strCache>
                <c:ptCount val="1"/>
                <c:pt idx="0">
                  <c:v>Budget mensuel (DH)</c:v>
                </c:pt>
              </c:strCache>
            </c:strRef>
          </c:tx>
          <c:spPr>
            <a:solidFill>
              <a:srgbClr val="6D28D9"/>
            </a:solidFill>
            <a:effectLst/>
          </c:spPr>
          <c:invertIfNegative val="0"/>
          <c:dLbls>
            <c:numFmt formatCode="#,##0" sourceLinked="0"/>
            <c:txPr>
              <a:bodyPr/>
              <a:lstStyle/>
              <a:p>
                <a:pPr>
                  <a:defRPr b="0" i="0" strike="noStrike" sz="1200" u="none">
                    <a:solidFill>
                      <a:srgbClr val="1B1530"/>
                    </a:solidFill>
                    <a:latin typeface="+mn-lt"/>
                  </a:defRPr>
                </a:pPr>
              </a:p>
            </c:txPr>
            <c:showLegendKey val="0"/>
            <c:showVal val="1"/>
            <c:showCatName val="0"/>
            <c:showSerName val="0"/>
            <c:showPercent val="0"/>
            <c:showBubbleSize val="0"/>
            <c:showLeaderLines val="0"/>
          </c:dLbls>
          <c:cat>
            <c:multiLvlStrRef>
              <c:f>Sheet1!$A$2:$A$5</c:f>
              <c:multiLvlStrCache>
                <c:ptCount val="4"/>
                <c:lvl>
                  <c:pt idx="0">
                    <c:v>Novembre</c:v>
                  </c:pt>
                  <c:pt idx="1">
                    <c:v>Décembre</c:v>
                  </c:pt>
                  <c:pt idx="2">
                    <c:v>Janvier</c:v>
                  </c:pt>
                  <c:pt idx="3">
                    <c:v>Février</c:v>
                  </c:pt>
                </c:lvl>
              </c:multiLvlStrCache>
            </c:multiLvlStrRef>
          </c:cat>
          <c:val>
            <c:numRef>
              <c:f>Sheet1!$B$2:$B$5</c:f>
              <c:numCache>
                <c:formatCode>General</c:formatCode>
                <c:ptCount val="4"/>
                <c:pt idx="0">
                  <c:v>50</c:v>
                </c:pt>
                <c:pt idx="1">
                  <c:v>40</c:v>
                </c:pt>
                <c:pt idx="2">
                  <c:v>40</c:v>
                </c:pt>
                <c:pt idx="3">
                  <c:v>70</c:v>
                </c:pt>
              </c:numCache>
            </c:numRef>
          </c:val>
        </c:ser>
        <c:dLbls>
          <c:numFmt formatCode="#,##0" sourceLinked="0"/>
          <c:txPr>
            <a:bodyPr/>
            <a:lstStyle/>
            <a:p>
              <a:pPr>
                <a:defRPr b="0" i="0" strike="noStrike" sz="1200" u="none">
                  <a:solidFill>
                    <a:srgbClr val="1B15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385"/>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deck complète l'audit SEO technique : ici, uniquement des actions marketing, pilotables par l'équipe marketing, sur les quatre prochains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Commencer par ces quatre points évite les deux erreurs classiques : attendre du SEO un effet immédiat, et dépenser sans règle de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L'indicateur clé n'est pas l'installation mais la première commande : une installation sans commande est une dépense, pas un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n'a aujourd'hui aucune page ville ni aucun article Maroc. C'est la plus grosse opportunité SEO, et elle relève du marketing (rédaction, choix des sujets), pas de 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liens depuis des sites marocains crédibles sont ce qui fait monter un site dans Google au Maroc. Le baromètre data est l'action au meilleur rapport effort/retombées.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plupart des utilisateurs trouvent l'app depuis les stores : le référencement des fiches (ASO) fait partie du SEO au sens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90 000 DH de média, Meta peut nourrir un seul ensemble de pubs optimisé sur la 1re commande. TikTok démarre sur l'inscription, un événement plus fréquent, puis bascule sur la 1re commande quand le volume le permet.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coût cible de 80 DH inclut le code de bienvenue puisque les promos sont dans le budget. Le partage 50/30 est une proposition : on peut jouer sur le montant du code pour garder les ads dans le cadre.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L'angle MRE (« Commandez pour vos proches ») s'appuie sur une fonctionnalité qui existe déjà dans l'app. C'est une cible à fort pouvoir d'achat et peu disputée par les concurrents locaux.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Ramadan est le temps fort à ne pas rater : les habitudes de commande changent complètement (ftour, shour). Les créatifs doivent être tournés en janvier.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pic Black Friday reçoit la moitié du budget de novembre. Pour le Ramadan, la moitié du budget de février va aux deux premières semaines, quand les habitudes se forment.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rétention, chaque dirham d'acquisition est perdu au bout d'un mois. Le groupe témoin permet de prouver que la relance rapporte vraiment.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promo par créateur est indispensable : sans lui, impossible de savoir quel influenceur rapporte des commandes.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phase se termine par une décision : ce qui marche reçoit plus de budget, ce qui ne marche pas est coupé.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Novembre inclut Black Friday ; février concentre le Ramadan. Le budget doit pouvoir passer d'une plateforme à l'autre chaque semaine selon le coût par première 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et coût cible fixés. Il reste le montant du code, le cofinancement des promos et la couverture de mars. Les tournages Black Friday doivent commencer début novembre.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64592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600" b="1" dirty="0">
                <a:solidFill>
                  <a:schemeClr val="tx2"/>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Yassir Maroc · Plan d'actions marketing · Novembre 2026 à février 2027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645920"/>
          </a:xfrm>
          <a:prstGeom prst="rect">
            <a:avLst/>
          </a:prstGeom>
          <a:noFill/>
          <a:ln/>
        </p:spPr>
        <p:txBody>
          <a:bodyPr wrap="square" lIns="0" tIns="0" rIns="0" bIns="0" rtlCol="0" anchor="b"/>
          <a:lstStyle/>
          <a:p>
            <a:pPr algn="l" indent="0" marL="0">
              <a:buNone/>
            </a:pPr>
            <a:r>
              <a:rPr lang="en-US" sz="4400" b="1" dirty="0">
                <a:solidFill>
                  <a:schemeClr val="bg1"/>
                </a:solidFill>
                <a:latin typeface="Arial" pitchFamily="34" charset="0"/>
                <a:ea typeface="Arial" pitchFamily="34" charset="-122"/>
                <a:cs typeface="Arial" pitchFamily="34" charset="-120"/>
              </a:rPr>
              <a:t>Yassir Maroc : plan d'actions marketing</a:t>
            </a: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indent="0" marL="0">
              <a:buNone/>
            </a:pPr>
            <a:r>
              <a:rPr lang="en-US" sz="1800" dirty="0">
                <a:solidFill>
                  <a:schemeClr val="accent6"/>
                </a:solidFill>
              </a:rPr>
              <a:t>SEO par le marketing, campagnes ads et CRM</a:t>
            </a:r>
            <a:endParaRPr lang="en-US" sz="1800" dirty="0"/>
          </a:p>
          <a:p>
            <a:pPr indent="0" marL="0">
              <a:buNone/>
            </a:pPr>
            <a:r>
              <a:rPr lang="en-US" sz="1800" dirty="0">
                <a:solidFill>
                  <a:schemeClr val="accent6"/>
                </a:solidFill>
              </a:rPr>
              <a:t>Novembre 2026 à février 2027 · version du 24 octobre 2026</a:t>
            </a:r>
            <a:endParaRPr lang="en-US" sz="1800" dirty="0"/>
          </a:p>
        </p:txBody>
      </p:sp>
      <p:sp>
        <p:nvSpPr>
          <p:cNvPr id="4" name="Plan circle"/>
          <p:cNvSpPr/>
          <p:nvPr/>
        </p:nvSpPr>
        <p:spPr>
          <a:xfrm>
            <a:off x="731520" y="914400"/>
            <a:ext cx="731520" cy="731520"/>
          </a:xfrm>
          <a:prstGeom prst="ellipse">
            <a:avLst/>
          </a:prstGeom>
          <a:solidFill>
            <a:schemeClr val="accent1"/>
          </a:solidFill>
          <a:ln/>
        </p:spPr>
      </p:sp>
      <p:pic>
        <p:nvPicPr>
          <p:cNvPr id="5" name="Plan icon" descr="Plan">    </p:cNvPr>
          <p:cNvPicPr>
            <a:picLocks noChangeAspect="1"/>
          </p:cNvPicPr>
          <p:nvPr/>
        </p:nvPicPr>
        <p:blipFill>
          <a:blip r:embed="rId1"/>
          <a:stretch>
            <a:fillRect/>
          </a:stretch>
        </p:blipFill>
        <p:spPr>
          <a:xfrm>
            <a:off x="921715" y="1104595"/>
            <a:ext cx="351130" cy="3511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Quatre réalités avant de dépenser</a:t>
            </a:r>
            <a:endParaRPr lang="en-US" sz="3600" dirty="0"/>
          </a:p>
        </p:txBody>
      </p:sp>
      <p:sp>
        <p:nvSpPr>
          <p:cNvPr id="3" name="Le SEO paie dans 3 à 6 mois"/>
          <p:cNvSpPr/>
          <p:nvPr/>
        </p:nvSpPr>
        <p:spPr>
          <a:xfrm>
            <a:off x="548640" y="1417320"/>
            <a:ext cx="5417820" cy="2194560"/>
          </a:xfrm>
          <a:prstGeom prst="roundRect">
            <a:avLst>
              <a:gd name="adj" fmla="val 5000"/>
            </a:avLst>
          </a:prstGeom>
          <a:solidFill>
            <a:schemeClr val="bg2"/>
          </a:solidFill>
          <a:ln/>
        </p:spPr>
      </p:sp>
      <p:sp>
        <p:nvSpPr>
          <p:cNvPr id="4" name="Le SEO paie dans 3 à 6 mois circle"/>
          <p:cNvSpPr/>
          <p:nvPr/>
        </p:nvSpPr>
        <p:spPr>
          <a:xfrm>
            <a:off x="822960" y="1691640"/>
            <a:ext cx="548640" cy="548640"/>
          </a:xfrm>
          <a:prstGeom prst="ellipse">
            <a:avLst/>
          </a:prstGeom>
          <a:solidFill>
            <a:schemeClr val="accent3"/>
          </a:solidFill>
          <a:ln/>
        </p:spPr>
      </p:sp>
      <p:pic>
        <p:nvPicPr>
          <p:cNvPr id="5" name="Le SEO paie dans 3 à 6 mois icon" descr="Le SEO paie dans 3 à 6 mois">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0876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Le SEO paie dans 3 à 6 mois</a:t>
            </a:r>
            <a:endParaRPr lang="en-US" sz="1700" dirty="0"/>
          </a:p>
        </p:txBody>
      </p:sp>
      <p:sp>
        <p:nvSpPr>
          <p:cNvPr id="7" name="Text 4"/>
          <p:cNvSpPr txBox="1"/>
          <p:nvPr/>
        </p:nvSpPr>
        <p:spPr>
          <a:xfrm>
            <a:off x="82296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Les actions SEO lancées en novembre porteront surtout au printemps. Pour des commandes dès ce trimestre, ce sont les ads et le CRM qui comptent.</a:t>
            </a:r>
            <a:endParaRPr lang="en-US" sz="1400" dirty="0"/>
          </a:p>
        </p:txBody>
      </p:sp>
      <p:sp>
        <p:nvSpPr>
          <p:cNvPr id="8" name="Codes promo inclus dans les 200 000 DH"/>
          <p:cNvSpPr/>
          <p:nvPr/>
        </p:nvSpPr>
        <p:spPr>
          <a:xfrm>
            <a:off x="6195060" y="1417320"/>
            <a:ext cx="5417820" cy="2194560"/>
          </a:xfrm>
          <a:prstGeom prst="roundRect">
            <a:avLst>
              <a:gd name="adj" fmla="val 5000"/>
            </a:avLst>
          </a:prstGeom>
          <a:solidFill>
            <a:schemeClr val="bg2"/>
          </a:solidFill>
          <a:ln/>
        </p:spPr>
      </p:sp>
      <p:sp>
        <p:nvSpPr>
          <p:cNvPr id="9" name="Codes promo inclus dans les 200 000 DH circle"/>
          <p:cNvSpPr/>
          <p:nvPr/>
        </p:nvSpPr>
        <p:spPr>
          <a:xfrm>
            <a:off x="6469380" y="1691640"/>
            <a:ext cx="548640" cy="548640"/>
          </a:xfrm>
          <a:prstGeom prst="ellipse">
            <a:avLst/>
          </a:prstGeom>
          <a:solidFill>
            <a:schemeClr val="accent3"/>
          </a:solidFill>
          <a:ln/>
        </p:spPr>
      </p:sp>
      <p:pic>
        <p:nvPicPr>
          <p:cNvPr id="10" name="Codes promo inclus dans les 200 000 DH icon" descr="Codes promo inclus dans les 200 000 DH">    </p:cNvPr>
          <p:cNvPicPr>
            <a:picLocks noChangeAspect="1"/>
          </p:cNvPicPr>
          <p:nvPr/>
        </p:nvPicPr>
        <p:blipFill>
          <a:blip r:embed="rId2"/>
          <a:stretch>
            <a:fillRect/>
          </a:stretch>
        </p:blipFill>
        <p:spPr>
          <a:xfrm>
            <a:off x="6612026" y="1834286"/>
            <a:ext cx="263347" cy="263347"/>
          </a:xfrm>
          <a:prstGeom prst="rect">
            <a:avLst/>
          </a:prstGeom>
        </p:spPr>
      </p:pic>
      <p:sp>
        <p:nvSpPr>
          <p:cNvPr id="11" name="Text 7"/>
          <p:cNvSpPr txBox="1"/>
          <p:nvPr/>
        </p:nvSpPr>
        <p:spPr>
          <a:xfrm>
            <a:off x="715518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Codes promo inclus dans les 200 000 DH</a:t>
            </a:r>
            <a:endParaRPr lang="en-US" sz="1700" dirty="0"/>
          </a:p>
        </p:txBody>
      </p:sp>
      <p:sp>
        <p:nvSpPr>
          <p:cNvPr id="12" name="Text 8"/>
          <p:cNvSpPr txBox="1"/>
          <p:nvPr/>
        </p:nvSpPr>
        <p:spPr>
          <a:xfrm>
            <a:off x="646938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Chaque code offert réduit le budget pub. Coût cible : 80 DH par nouveau client, code compris. Sans historique, la répartition est à recalibrer après 2 semaines.</a:t>
            </a:r>
            <a:endParaRPr lang="en-US" sz="1400" dirty="0"/>
          </a:p>
        </p:txBody>
      </p:sp>
      <p:sp>
        <p:nvSpPr>
          <p:cNvPr id="13" name="Ne pas écrire « VTC » dans les pubs"/>
          <p:cNvSpPr/>
          <p:nvPr/>
        </p:nvSpPr>
        <p:spPr>
          <a:xfrm>
            <a:off x="548640" y="3840480"/>
            <a:ext cx="5417820" cy="2194560"/>
          </a:xfrm>
          <a:prstGeom prst="roundRect">
            <a:avLst>
              <a:gd name="adj" fmla="val 5000"/>
            </a:avLst>
          </a:prstGeom>
          <a:solidFill>
            <a:schemeClr val="bg2"/>
          </a:solidFill>
          <a:ln/>
        </p:spPr>
      </p:sp>
      <p:sp>
        <p:nvSpPr>
          <p:cNvPr id="14" name="Ne pas écrire « VTC » dans les pubs circle"/>
          <p:cNvSpPr/>
          <p:nvPr/>
        </p:nvSpPr>
        <p:spPr>
          <a:xfrm>
            <a:off x="822960" y="4114800"/>
            <a:ext cx="548640" cy="548640"/>
          </a:xfrm>
          <a:prstGeom prst="ellipse">
            <a:avLst/>
          </a:prstGeom>
          <a:solidFill>
            <a:schemeClr val="accent4"/>
          </a:solidFill>
          <a:ln/>
        </p:spPr>
      </p:sp>
      <p:pic>
        <p:nvPicPr>
          <p:cNvPr id="15" name="Ne pas écrire « VTC » dans les pubs icon" descr="Ne pas écrire « VTC » dans les pubs">    </p:cNvPr>
          <p:cNvPicPr>
            <a:picLocks noChangeAspect="1"/>
          </p:cNvPicPr>
          <p:nvPr/>
        </p:nvPicPr>
        <p:blipFill>
          <a:blip r:embed="rId3"/>
          <a:stretch>
            <a:fillRect/>
          </a:stretch>
        </p:blipFill>
        <p:spPr>
          <a:xfrm>
            <a:off x="965606" y="4257446"/>
            <a:ext cx="263347" cy="263347"/>
          </a:xfrm>
          <a:prstGeom prst="rect">
            <a:avLst/>
          </a:prstGeom>
        </p:spPr>
      </p:pic>
      <p:sp>
        <p:nvSpPr>
          <p:cNvPr id="16" name="Text 11"/>
          <p:cNvSpPr txBox="1"/>
          <p:nvPr/>
        </p:nvSpPr>
        <p:spPr>
          <a:xfrm>
            <a:off x="150876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Ne pas écrire « VTC » dans les pubs</a:t>
            </a:r>
            <a:endParaRPr lang="en-US" sz="1700" dirty="0"/>
          </a:p>
        </p:txBody>
      </p:sp>
      <p:sp>
        <p:nvSpPr>
          <p:cNvPr id="17" name="Text 12"/>
          <p:cNvSpPr txBox="1"/>
          <p:nvPr/>
        </p:nvSpPr>
        <p:spPr>
          <a:xfrm>
            <a:off x="82296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Historique réglementaire à Casablanca : parler de « course » ou de « taxi » tant que le juridique n'a pas tranché. Un refus de pub ou un bad buzz coûte plus cher.</a:t>
            </a:r>
            <a:endParaRPr lang="en-US" sz="1400" dirty="0"/>
          </a:p>
        </p:txBody>
      </p:sp>
      <p:sp>
        <p:nvSpPr>
          <p:cNvPr id="18" name="Éviter les fêtes politiques"/>
          <p:cNvSpPr/>
          <p:nvPr/>
        </p:nvSpPr>
        <p:spPr>
          <a:xfrm>
            <a:off x="6195060" y="3840480"/>
            <a:ext cx="5417820" cy="2194560"/>
          </a:xfrm>
          <a:prstGeom prst="roundRect">
            <a:avLst>
              <a:gd name="adj" fmla="val 5000"/>
            </a:avLst>
          </a:prstGeom>
          <a:solidFill>
            <a:schemeClr val="bg2"/>
          </a:solidFill>
          <a:ln/>
        </p:spPr>
      </p:sp>
      <p:sp>
        <p:nvSpPr>
          <p:cNvPr id="19" name="Éviter les fêtes politiques circle"/>
          <p:cNvSpPr/>
          <p:nvPr/>
        </p:nvSpPr>
        <p:spPr>
          <a:xfrm>
            <a:off x="6469380" y="4114800"/>
            <a:ext cx="548640" cy="548640"/>
          </a:xfrm>
          <a:prstGeom prst="ellipse">
            <a:avLst/>
          </a:prstGeom>
          <a:solidFill>
            <a:schemeClr val="accent4"/>
          </a:solidFill>
          <a:ln/>
        </p:spPr>
      </p:sp>
      <p:pic>
        <p:nvPicPr>
          <p:cNvPr id="20" name="Éviter les fêtes politiques icon" descr="Éviter les fêtes politiques">    </p:cNvPr>
          <p:cNvPicPr>
            <a:picLocks noChangeAspect="1"/>
          </p:cNvPicPr>
          <p:nvPr/>
        </p:nvPicPr>
        <p:blipFill>
          <a:blip r:embed="rId4"/>
          <a:stretch>
            <a:fillRect/>
          </a:stretch>
        </p:blipFill>
        <p:spPr>
          <a:xfrm>
            <a:off x="6612026" y="4257446"/>
            <a:ext cx="263347" cy="263347"/>
          </a:xfrm>
          <a:prstGeom prst="rect">
            <a:avLst/>
          </a:prstGeom>
        </p:spPr>
      </p:pic>
      <p:sp>
        <p:nvSpPr>
          <p:cNvPr id="21" name="Text 15"/>
          <p:cNvSpPr txBox="1"/>
          <p:nvPr/>
        </p:nvSpPr>
        <p:spPr>
          <a:xfrm>
            <a:off x="715518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Éviter les fêtes politiques</a:t>
            </a:r>
            <a:endParaRPr lang="en-US" sz="1700" dirty="0"/>
          </a:p>
        </p:txBody>
      </p:sp>
      <p:sp>
        <p:nvSpPr>
          <p:cNvPr id="22" name="Text 16"/>
          <p:cNvSpPr txBox="1"/>
          <p:nvPr/>
        </p:nvSpPr>
        <p:spPr>
          <a:xfrm>
            <a:off x="646938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Marque d'origine algérienne : une campagne sur la Marche Verte ou un thème patriotique est un risque de polémique élevé. Privilégier les moments de consommation.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Objectifs et indicateurs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920240"/>
                <a:gridCol w="2743200"/>
                <a:gridCol w="4572000"/>
                <a:gridCol w="1828800"/>
              </a:tblGrid>
              <a:tr h="685800">
                <a:tc>
                  <a:txBody>
                    <a:bodyPr/>
                    <a:lstStyle/>
                    <a:p>
                      <a:pPr indent="0" marL="0">
                        <a:buNone/>
                      </a:pPr>
                      <a:r>
                        <a:rPr lang="en-US" sz="1400" b="1" dirty="0">
                          <a:solidFill>
                            <a:schemeClr val="bg1"/>
                          </a:solidFill>
                        </a:rPr>
                        <a:t>Objectif</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Indicateur principal</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Indicateurs de suivi</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Rythme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r>
              <a:tr h="685800">
                <a:tc>
                  <a:txBody>
                    <a:bodyPr/>
                    <a:lstStyle/>
                    <a:p>
                      <a:pPr indent="0" marL="0">
                        <a:buNone/>
                      </a:pPr>
                      <a:r>
                        <a:rPr lang="en-US" sz="1400" dirty="0">
                          <a:solidFill>
                            <a:schemeClr val="tx1"/>
                          </a:solidFill>
                        </a:rPr>
                        <a:t>Acquérir</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Coût par première commande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Installations, coût par installation, taux installation → commande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Hebdomadaire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685800">
                <a:tc>
                  <a:txBody>
                    <a:bodyPr/>
                    <a:lstStyle/>
                    <a:p>
                      <a:pPr indent="0" marL="0">
                        <a:buNone/>
                      </a:pPr>
                      <a:r>
                        <a:rPr lang="en-US" sz="1400" dirty="0">
                          <a:solidFill>
                            <a:schemeClr val="tx1"/>
                          </a:solidFill>
                        </a:rPr>
                        <a:t>Fidéliser</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Rétention à 30 jours</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Commandes par client actif, taux de réactivation</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Hebdomadaire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685800">
                <a:tc>
                  <a:txBody>
                    <a:bodyPr/>
                    <a:lstStyle/>
                    <a:p>
                      <a:pPr indent="0" marL="0">
                        <a:buNone/>
                      </a:pPr>
                      <a:r>
                        <a:rPr lang="en-US" sz="1400" dirty="0">
                          <a:solidFill>
                            <a:schemeClr val="tx1"/>
                          </a:solidFill>
                        </a:rPr>
                        <a:t>Visibilité SEO</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Clics organiques Maroc</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Positions top 10 sur les requêtes villes, recherches « Yassir »</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Mensuel</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685800">
                <a:tc>
                  <a:txBody>
                    <a:bodyPr/>
                    <a:lstStyle/>
                    <a:p>
                      <a:pPr indent="0" marL="0">
                        <a:buNone/>
                      </a:pPr>
                      <a:r>
                        <a:rPr lang="en-US" sz="1400" dirty="0">
                          <a:solidFill>
                            <a:schemeClr val="tx1"/>
                          </a:solidFill>
                        </a:rPr>
                        <a:t>Réputation</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Note sur les stores</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Volume d'avis, taux de réponse aux avis, sentiment des commentaires</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Mensuel</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bl>
          </a:graphicData>
        </a:graphic>
      </p:graphicFrame>
      <p:sp>
        <p:nvSpPr>
          <p:cNvPr id="4" name="Cibles"/>
          <p:cNvSpPr/>
          <p:nvPr/>
        </p:nvSpPr>
        <p:spPr>
          <a:xfrm>
            <a:off x="548640" y="5074920"/>
            <a:ext cx="11064240" cy="868680"/>
          </a:xfrm>
          <a:prstGeom prst="roundRect">
            <a:avLst>
              <a:gd name="adj" fmla="val 12632"/>
            </a:avLst>
          </a:prstGeom>
          <a:solidFill>
            <a:schemeClr val="bg2"/>
          </a:solidFill>
          <a:ln/>
        </p:spPr>
      </p:sp>
      <p:sp>
        <p:nvSpPr>
          <p:cNvPr id="5" name="Cibles circle"/>
          <p:cNvSpPr/>
          <p:nvPr/>
        </p:nvSpPr>
        <p:spPr>
          <a:xfrm>
            <a:off x="777240" y="5230368"/>
            <a:ext cx="548640" cy="548640"/>
          </a:xfrm>
          <a:prstGeom prst="ellipse">
            <a:avLst/>
          </a:prstGeom>
          <a:solidFill>
            <a:schemeClr val="accent1"/>
          </a:solidFill>
          <a:ln/>
        </p:spPr>
      </p:sp>
      <p:pic>
        <p:nvPicPr>
          <p:cNvPr id="6" name="Cibles icon" descr="Cibles">    </p:cNvPr>
          <p:cNvPicPr>
            <a:picLocks noChangeAspect="1"/>
          </p:cNvPicPr>
          <p:nvPr/>
        </p:nvPicPr>
        <p:blipFill>
          <a:blip r:embed="rId1"/>
          <a:stretch>
            <a:fillRect/>
          </a:stretch>
        </p:blipFill>
        <p:spPr>
          <a:xfrm>
            <a:off x="919886" y="5373014"/>
            <a:ext cx="263347" cy="263347"/>
          </a:xfrm>
          <a:prstGeom prst="rect">
            <a:avLst/>
          </a:prstGeom>
        </p:spPr>
      </p:pic>
      <p:sp>
        <p:nvSpPr>
          <p:cNvPr id="7" name="Text 3"/>
          <p:cNvSpPr txBox="1"/>
          <p:nvPr/>
        </p:nvSpPr>
        <p:spPr>
          <a:xfrm>
            <a:off x="1508760" y="5120640"/>
            <a:ext cx="9875520" cy="777240"/>
          </a:xfrm>
          <a:prstGeom prst="rect">
            <a:avLst/>
          </a:prstGeom>
          <a:noFill/>
          <a:ln/>
        </p:spPr>
        <p:txBody>
          <a:bodyPr wrap="square" lIns="0" tIns="0" rIns="0" bIns="0" rtlCol="0" anchor="ctr"/>
          <a:lstStyle/>
          <a:p>
            <a:pPr indent="0" marL="0">
              <a:buNone/>
            </a:pPr>
            <a:r>
              <a:rPr lang="en-US" sz="1600" b="1" dirty="0">
                <a:solidFill>
                  <a:schemeClr val="tx1"/>
                </a:solidFill>
              </a:rPr>
              <a:t>Cibles chiffrées : </a:t>
            </a:r>
            <a:pPr indent="0" marL="0">
              <a:buNone/>
            </a:pPr>
            <a:r>
              <a:rPr lang="en-US" sz="1600" dirty="0">
                <a:solidFill>
                  <a:schemeClr val="tx1"/>
                </a:solidFill>
              </a:rPr>
              <a:t>à fixer après 2 semaines de mesure de référence. Fixer une cible sans historique revient à piloter à l'aveugle.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SEO levier 1 : contenu local</a:t>
            </a:r>
            <a:endParaRPr lang="en-US" sz="3600" dirty="0"/>
          </a:p>
        </p:txBody>
      </p:sp>
      <p:sp>
        <p:nvSpPr>
          <p:cNvPr id="3" name="Pages villes rédigées par le marketing"/>
          <p:cNvSpPr/>
          <p:nvPr/>
        </p:nvSpPr>
        <p:spPr>
          <a:xfrm>
            <a:off x="548640" y="1417320"/>
            <a:ext cx="5417820" cy="2194560"/>
          </a:xfrm>
          <a:prstGeom prst="roundRect">
            <a:avLst>
              <a:gd name="adj" fmla="val 5000"/>
            </a:avLst>
          </a:prstGeom>
          <a:solidFill>
            <a:schemeClr val="bg2"/>
          </a:solidFill>
          <a:ln/>
        </p:spPr>
      </p:sp>
      <p:sp>
        <p:nvSpPr>
          <p:cNvPr id="4" name="Pages villes rédigées par le marketing circle"/>
          <p:cNvSpPr/>
          <p:nvPr/>
        </p:nvSpPr>
        <p:spPr>
          <a:xfrm>
            <a:off x="822960" y="1691640"/>
            <a:ext cx="548640" cy="548640"/>
          </a:xfrm>
          <a:prstGeom prst="ellipse">
            <a:avLst/>
          </a:prstGeom>
          <a:solidFill>
            <a:schemeClr val="accent1"/>
          </a:solidFill>
          <a:ln/>
        </p:spPr>
      </p:sp>
      <p:pic>
        <p:nvPicPr>
          <p:cNvPr id="5" name="Pages villes rédigées par le marketing icon" descr="Pages villes rédigées par le marketing">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0876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Pages villes rédigées par le marketing</a:t>
            </a:r>
            <a:endParaRPr lang="en-US" sz="1700" dirty="0"/>
          </a:p>
        </p:txBody>
      </p:sp>
      <p:sp>
        <p:nvSpPr>
          <p:cNvPr id="7" name="Text 4"/>
          <p:cNvSpPr txBox="1"/>
          <p:nvPr/>
        </p:nvSpPr>
        <p:spPr>
          <a:xfrm>
            <a:off x="82296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Casablanca d'abord, puis Rabat, Marrakech, Tanger, Agadir. Par ville : quartiers desservis, restaurants phares, FAQ locale, en FR et en AR.</a:t>
            </a:r>
            <a:endParaRPr lang="en-US" sz="1400" dirty="0"/>
          </a:p>
        </p:txBody>
      </p:sp>
      <p:sp>
        <p:nvSpPr>
          <p:cNvPr id="8" name="Guides « food » locaux"/>
          <p:cNvSpPr/>
          <p:nvPr/>
        </p:nvSpPr>
        <p:spPr>
          <a:xfrm>
            <a:off x="6195060" y="1417320"/>
            <a:ext cx="5417820" cy="2194560"/>
          </a:xfrm>
          <a:prstGeom prst="roundRect">
            <a:avLst>
              <a:gd name="adj" fmla="val 5000"/>
            </a:avLst>
          </a:prstGeom>
          <a:solidFill>
            <a:schemeClr val="bg2"/>
          </a:solidFill>
          <a:ln/>
        </p:spPr>
      </p:sp>
      <p:sp>
        <p:nvSpPr>
          <p:cNvPr id="9" name="Guides « food » locaux circle"/>
          <p:cNvSpPr/>
          <p:nvPr/>
        </p:nvSpPr>
        <p:spPr>
          <a:xfrm>
            <a:off x="6469380" y="1691640"/>
            <a:ext cx="548640" cy="548640"/>
          </a:xfrm>
          <a:prstGeom prst="ellipse">
            <a:avLst/>
          </a:prstGeom>
          <a:solidFill>
            <a:schemeClr val="accent1"/>
          </a:solidFill>
          <a:ln/>
        </p:spPr>
      </p:sp>
      <p:pic>
        <p:nvPicPr>
          <p:cNvPr id="10" name="Guides « food » locaux icon" descr="Guides « food » locaux">    </p:cNvPr>
          <p:cNvPicPr>
            <a:picLocks noChangeAspect="1"/>
          </p:cNvPicPr>
          <p:nvPr/>
        </p:nvPicPr>
        <p:blipFill>
          <a:blip r:embed="rId2"/>
          <a:stretch>
            <a:fillRect/>
          </a:stretch>
        </p:blipFill>
        <p:spPr>
          <a:xfrm>
            <a:off x="6612026" y="1834286"/>
            <a:ext cx="263347" cy="263347"/>
          </a:xfrm>
          <a:prstGeom prst="rect">
            <a:avLst/>
          </a:prstGeom>
        </p:spPr>
      </p:pic>
      <p:sp>
        <p:nvSpPr>
          <p:cNvPr id="11" name="Text 7"/>
          <p:cNvSpPr txBox="1"/>
          <p:nvPr/>
        </p:nvSpPr>
        <p:spPr>
          <a:xfrm>
            <a:off x="715518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Guides « food » locaux</a:t>
            </a:r>
            <a:endParaRPr lang="en-US" sz="1700" dirty="0"/>
          </a:p>
        </p:txBody>
      </p:sp>
      <p:sp>
        <p:nvSpPr>
          <p:cNvPr id="12" name="Text 8"/>
          <p:cNvSpPr txBox="1"/>
          <p:nvPr/>
        </p:nvSpPr>
        <p:spPr>
          <a:xfrm>
            <a:off x="646938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 Les meilleurs tajines livrés à Casablanca », « Où commander tard à Rabat », « Ftour livré : notre sélection ». 2 guides par mois.</a:t>
            </a:r>
            <a:endParaRPr lang="en-US" sz="1400" dirty="0"/>
          </a:p>
        </p:txBody>
      </p:sp>
      <p:sp>
        <p:nvSpPr>
          <p:cNvPr id="13" name="Portraits de restaurants partenaires"/>
          <p:cNvSpPr/>
          <p:nvPr/>
        </p:nvSpPr>
        <p:spPr>
          <a:xfrm>
            <a:off x="548640" y="3840480"/>
            <a:ext cx="5417820" cy="2194560"/>
          </a:xfrm>
          <a:prstGeom prst="roundRect">
            <a:avLst>
              <a:gd name="adj" fmla="val 5000"/>
            </a:avLst>
          </a:prstGeom>
          <a:solidFill>
            <a:schemeClr val="bg2"/>
          </a:solidFill>
          <a:ln/>
        </p:spPr>
      </p:sp>
      <p:sp>
        <p:nvSpPr>
          <p:cNvPr id="14" name="Portraits de restaurants partenaires circle"/>
          <p:cNvSpPr/>
          <p:nvPr/>
        </p:nvSpPr>
        <p:spPr>
          <a:xfrm>
            <a:off x="822960" y="4114800"/>
            <a:ext cx="548640" cy="548640"/>
          </a:xfrm>
          <a:prstGeom prst="ellipse">
            <a:avLst/>
          </a:prstGeom>
          <a:solidFill>
            <a:schemeClr val="accent1"/>
          </a:solidFill>
          <a:ln/>
        </p:spPr>
      </p:sp>
      <p:pic>
        <p:nvPicPr>
          <p:cNvPr id="15" name="Portraits de restaurants partenaires icon" descr="Portraits de restaurants partenaires">    </p:cNvPr>
          <p:cNvPicPr>
            <a:picLocks noChangeAspect="1"/>
          </p:cNvPicPr>
          <p:nvPr/>
        </p:nvPicPr>
        <p:blipFill>
          <a:blip r:embed="rId3"/>
          <a:stretch>
            <a:fillRect/>
          </a:stretch>
        </p:blipFill>
        <p:spPr>
          <a:xfrm>
            <a:off x="965606" y="4257446"/>
            <a:ext cx="263347" cy="263347"/>
          </a:xfrm>
          <a:prstGeom prst="rect">
            <a:avLst/>
          </a:prstGeom>
        </p:spPr>
      </p:pic>
      <p:sp>
        <p:nvSpPr>
          <p:cNvPr id="16" name="Text 11"/>
          <p:cNvSpPr txBox="1"/>
          <p:nvPr/>
        </p:nvSpPr>
        <p:spPr>
          <a:xfrm>
            <a:off x="150876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Portraits de restaurants partenaires</a:t>
            </a:r>
            <a:endParaRPr lang="en-US" sz="1700" dirty="0"/>
          </a:p>
        </p:txBody>
      </p:sp>
      <p:sp>
        <p:nvSpPr>
          <p:cNvPr id="17" name="Text 12"/>
          <p:cNvSpPr txBox="1"/>
          <p:nvPr/>
        </p:nvSpPr>
        <p:spPr>
          <a:xfrm>
            <a:off x="82296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Une page par restaurant phare, partagée par le restaurant lui-même : contenu unique et partages gratuits.</a:t>
            </a:r>
            <a:endParaRPr lang="en-US" sz="1400" dirty="0"/>
          </a:p>
        </p:txBody>
      </p:sp>
      <p:sp>
        <p:nvSpPr>
          <p:cNvPr id="18" name="Pages routes Yassir Travel"/>
          <p:cNvSpPr/>
          <p:nvPr/>
        </p:nvSpPr>
        <p:spPr>
          <a:xfrm>
            <a:off x="6195060" y="3840480"/>
            <a:ext cx="5417820" cy="2194560"/>
          </a:xfrm>
          <a:prstGeom prst="roundRect">
            <a:avLst>
              <a:gd name="adj" fmla="val 5000"/>
            </a:avLst>
          </a:prstGeom>
          <a:solidFill>
            <a:schemeClr val="bg2"/>
          </a:solidFill>
          <a:ln/>
        </p:spPr>
      </p:sp>
      <p:sp>
        <p:nvSpPr>
          <p:cNvPr id="19" name="Pages routes Yassir Travel circle"/>
          <p:cNvSpPr/>
          <p:nvPr/>
        </p:nvSpPr>
        <p:spPr>
          <a:xfrm>
            <a:off x="6469380" y="4114800"/>
            <a:ext cx="548640" cy="548640"/>
          </a:xfrm>
          <a:prstGeom prst="ellipse">
            <a:avLst/>
          </a:prstGeom>
          <a:solidFill>
            <a:schemeClr val="accent1"/>
          </a:solidFill>
          <a:ln/>
        </p:spPr>
      </p:sp>
      <p:pic>
        <p:nvPicPr>
          <p:cNvPr id="20" name="Pages routes Yassir Travel icon" descr="Pages routes Yassir Travel">    </p:cNvPr>
          <p:cNvPicPr>
            <a:picLocks noChangeAspect="1"/>
          </p:cNvPicPr>
          <p:nvPr/>
        </p:nvPicPr>
        <p:blipFill>
          <a:blip r:embed="rId4"/>
          <a:stretch>
            <a:fillRect/>
          </a:stretch>
        </p:blipFill>
        <p:spPr>
          <a:xfrm>
            <a:off x="6612026" y="4257446"/>
            <a:ext cx="263347" cy="263347"/>
          </a:xfrm>
          <a:prstGeom prst="rect">
            <a:avLst/>
          </a:prstGeom>
        </p:spPr>
      </p:pic>
      <p:sp>
        <p:nvSpPr>
          <p:cNvPr id="21" name="Text 15"/>
          <p:cNvSpPr txBox="1"/>
          <p:nvPr/>
        </p:nvSpPr>
        <p:spPr>
          <a:xfrm>
            <a:off x="715518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Pages routes Yassir Travel</a:t>
            </a:r>
            <a:endParaRPr lang="en-US" sz="1700" dirty="0"/>
          </a:p>
        </p:txBody>
      </p:sp>
      <p:sp>
        <p:nvSpPr>
          <p:cNvPr id="22" name="Text 16"/>
          <p:cNvSpPr txBox="1"/>
          <p:nvPr/>
        </p:nvSpPr>
        <p:spPr>
          <a:xfrm>
            <a:off x="646938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 Vol Casablanca–Paris pas cher », « Marrakech–Bruxelles » : des requêtes à forte demande, en lien avec les MRE.</a:t>
            </a:r>
            <a:endParaRPr lang="en-US" sz="1400" dirty="0"/>
          </a:p>
        </p:txBody>
      </p:sp>
      <p:sp>
        <p:nvSpPr>
          <p:cNvPr id="23" name="Text 17"/>
          <p:cNvSpPr txBox="1"/>
          <p:nvPr/>
        </p:nvSpPr>
        <p:spPr>
          <a:xfrm>
            <a:off x="548640" y="6108192"/>
            <a:ext cx="11064240" cy="256032"/>
          </a:xfrm>
          <a:prstGeom prst="rect">
            <a:avLst/>
          </a:prstGeom>
          <a:noFill/>
          <a:ln/>
        </p:spPr>
        <p:txBody>
          <a:bodyPr wrap="square" lIns="0" tIns="0" rIns="0" bIns="0" rtlCol="0" anchor="t"/>
          <a:lstStyle/>
          <a:p>
            <a:pPr indent="0" marL="0">
              <a:buNone/>
            </a:pPr>
            <a:r>
              <a:rPr lang="en-US" sz="1100" dirty="0">
                <a:solidFill>
                  <a:schemeClr val="accent5"/>
                </a:solidFill>
              </a:rPr>
              <a:t>Requêtes cibles et ordre de production à valider avec les volumes de Search Console.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SEO levier 2 : relations presse et liens</a:t>
            </a:r>
            <a:endParaRPr lang="en-US" sz="3600" dirty="0"/>
          </a:p>
        </p:txBody>
      </p:sp>
      <p:sp>
        <p:nvSpPr>
          <p:cNvPr id="3" name="Baromètre data « Ce que mange le Maroc »"/>
          <p:cNvSpPr/>
          <p:nvPr/>
        </p:nvSpPr>
        <p:spPr>
          <a:xfrm>
            <a:off x="548640" y="1417320"/>
            <a:ext cx="5417820" cy="2194560"/>
          </a:xfrm>
          <a:prstGeom prst="roundRect">
            <a:avLst>
              <a:gd name="adj" fmla="val 5000"/>
            </a:avLst>
          </a:prstGeom>
          <a:solidFill>
            <a:schemeClr val="bg2"/>
          </a:solidFill>
          <a:ln/>
        </p:spPr>
      </p:sp>
      <p:sp>
        <p:nvSpPr>
          <p:cNvPr id="4" name="Baromètre data « Ce que mange le Maroc » circle"/>
          <p:cNvSpPr/>
          <p:nvPr/>
        </p:nvSpPr>
        <p:spPr>
          <a:xfrm>
            <a:off x="822960" y="1691640"/>
            <a:ext cx="548640" cy="548640"/>
          </a:xfrm>
          <a:prstGeom prst="ellipse">
            <a:avLst/>
          </a:prstGeom>
          <a:solidFill>
            <a:schemeClr val="accent2"/>
          </a:solidFill>
          <a:ln/>
        </p:spPr>
      </p:sp>
      <p:pic>
        <p:nvPicPr>
          <p:cNvPr id="5" name="Baromètre data « Ce que mange le Maroc » icon" descr="Baromètre data « Ce que mange le Maroc »">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0876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Baromètre data « Ce que mange le Maroc »</a:t>
            </a:r>
            <a:endParaRPr lang="en-US" sz="1700" dirty="0"/>
          </a:p>
        </p:txBody>
      </p:sp>
      <p:sp>
        <p:nvSpPr>
          <p:cNvPr id="7" name="Text 4"/>
          <p:cNvSpPr txBox="1"/>
          <p:nvPr/>
        </p:nvSpPr>
        <p:spPr>
          <a:xfrm>
            <a:off x="82296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Plats les plus commandés, heures de pointe, villes : une étude tirée des commandes, reprise par la presse. Chaque reprise apporte un lien vers yassir.com.</a:t>
            </a:r>
            <a:endParaRPr lang="en-US" sz="1400" dirty="0"/>
          </a:p>
        </p:txBody>
      </p:sp>
      <p:sp>
        <p:nvSpPr>
          <p:cNvPr id="8" name="Communiqués locaux réguliers"/>
          <p:cNvSpPr/>
          <p:nvPr/>
        </p:nvSpPr>
        <p:spPr>
          <a:xfrm>
            <a:off x="6195060" y="1417320"/>
            <a:ext cx="5417820" cy="2194560"/>
          </a:xfrm>
          <a:prstGeom prst="roundRect">
            <a:avLst>
              <a:gd name="adj" fmla="val 5000"/>
            </a:avLst>
          </a:prstGeom>
          <a:solidFill>
            <a:schemeClr val="bg2"/>
          </a:solidFill>
          <a:ln/>
        </p:spPr>
      </p:sp>
      <p:sp>
        <p:nvSpPr>
          <p:cNvPr id="9" name="Communiqués locaux réguliers circle"/>
          <p:cNvSpPr/>
          <p:nvPr/>
        </p:nvSpPr>
        <p:spPr>
          <a:xfrm>
            <a:off x="6469380" y="1691640"/>
            <a:ext cx="548640" cy="548640"/>
          </a:xfrm>
          <a:prstGeom prst="ellipse">
            <a:avLst/>
          </a:prstGeom>
          <a:solidFill>
            <a:schemeClr val="accent2"/>
          </a:solidFill>
          <a:ln/>
        </p:spPr>
      </p:sp>
      <p:pic>
        <p:nvPicPr>
          <p:cNvPr id="10" name="Communiqués locaux réguliers icon" descr="Communiqués locaux réguliers">    </p:cNvPr>
          <p:cNvPicPr>
            <a:picLocks noChangeAspect="1"/>
          </p:cNvPicPr>
          <p:nvPr/>
        </p:nvPicPr>
        <p:blipFill>
          <a:blip r:embed="rId2"/>
          <a:stretch>
            <a:fillRect/>
          </a:stretch>
        </p:blipFill>
        <p:spPr>
          <a:xfrm>
            <a:off x="6612026" y="1834286"/>
            <a:ext cx="263347" cy="263347"/>
          </a:xfrm>
          <a:prstGeom prst="rect">
            <a:avLst/>
          </a:prstGeom>
        </p:spPr>
      </p:pic>
      <p:sp>
        <p:nvSpPr>
          <p:cNvPr id="11" name="Text 7"/>
          <p:cNvSpPr txBox="1"/>
          <p:nvPr/>
        </p:nvSpPr>
        <p:spPr>
          <a:xfrm>
            <a:off x="715518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Communiqués locaux réguliers</a:t>
            </a:r>
            <a:endParaRPr lang="en-US" sz="1700" dirty="0"/>
          </a:p>
        </p:txBody>
      </p:sp>
      <p:sp>
        <p:nvSpPr>
          <p:cNvPr id="12" name="Text 8"/>
          <p:cNvSpPr txBox="1"/>
          <p:nvPr/>
        </p:nvSpPr>
        <p:spPr>
          <a:xfrm>
            <a:off x="646938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Nouvelle ville, nouveau partenaire, chiffre clé : un communiqué par mois aux médias économiques et grand public marocains.</a:t>
            </a:r>
            <a:endParaRPr lang="en-US" sz="1400" dirty="0"/>
          </a:p>
        </p:txBody>
      </p:sp>
      <p:sp>
        <p:nvSpPr>
          <p:cNvPr id="13" name="Kit « Commandez sur Yassir » pour restaurants"/>
          <p:cNvSpPr/>
          <p:nvPr/>
        </p:nvSpPr>
        <p:spPr>
          <a:xfrm>
            <a:off x="548640" y="3840480"/>
            <a:ext cx="5417820" cy="2194560"/>
          </a:xfrm>
          <a:prstGeom prst="roundRect">
            <a:avLst>
              <a:gd name="adj" fmla="val 5000"/>
            </a:avLst>
          </a:prstGeom>
          <a:solidFill>
            <a:schemeClr val="bg2"/>
          </a:solidFill>
          <a:ln/>
        </p:spPr>
      </p:sp>
      <p:sp>
        <p:nvSpPr>
          <p:cNvPr id="14" name="Kit « Commandez sur Yassir » pour restaurants circle"/>
          <p:cNvSpPr/>
          <p:nvPr/>
        </p:nvSpPr>
        <p:spPr>
          <a:xfrm>
            <a:off x="822960" y="4114800"/>
            <a:ext cx="548640" cy="548640"/>
          </a:xfrm>
          <a:prstGeom prst="ellipse">
            <a:avLst/>
          </a:prstGeom>
          <a:solidFill>
            <a:schemeClr val="accent2"/>
          </a:solidFill>
          <a:ln/>
        </p:spPr>
      </p:sp>
      <p:pic>
        <p:nvPicPr>
          <p:cNvPr id="15" name="Kit « Commandez sur Yassir » pour restaurants icon" descr="Kit « Commandez sur Yassir » pour restaurants">    </p:cNvPr>
          <p:cNvPicPr>
            <a:picLocks noChangeAspect="1"/>
          </p:cNvPicPr>
          <p:nvPr/>
        </p:nvPicPr>
        <p:blipFill>
          <a:blip r:embed="rId3"/>
          <a:stretch>
            <a:fillRect/>
          </a:stretch>
        </p:blipFill>
        <p:spPr>
          <a:xfrm>
            <a:off x="965606" y="4257446"/>
            <a:ext cx="263347" cy="263347"/>
          </a:xfrm>
          <a:prstGeom prst="rect">
            <a:avLst/>
          </a:prstGeom>
        </p:spPr>
      </p:pic>
      <p:sp>
        <p:nvSpPr>
          <p:cNvPr id="16" name="Text 11"/>
          <p:cNvSpPr txBox="1"/>
          <p:nvPr/>
        </p:nvSpPr>
        <p:spPr>
          <a:xfrm>
            <a:off x="150876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Kit « Commandez sur Yassir » pour restaurants</a:t>
            </a:r>
            <a:endParaRPr lang="en-US" sz="1700" dirty="0"/>
          </a:p>
        </p:txBody>
      </p:sp>
      <p:sp>
        <p:nvSpPr>
          <p:cNvPr id="17" name="Text 12"/>
          <p:cNvSpPr txBox="1"/>
          <p:nvPr/>
        </p:nvSpPr>
        <p:spPr>
          <a:xfrm>
            <a:off x="82296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Badge et lien à placer sur le site, l'Instagram et le Google Maps de chaque restaurant partenaire.</a:t>
            </a:r>
            <a:endParaRPr lang="en-US" sz="1400" dirty="0"/>
          </a:p>
        </p:txBody>
      </p:sp>
      <p:sp>
        <p:nvSpPr>
          <p:cNvPr id="18" name="Partenariats écoles et événements"/>
          <p:cNvSpPr/>
          <p:nvPr/>
        </p:nvSpPr>
        <p:spPr>
          <a:xfrm>
            <a:off x="6195060" y="3840480"/>
            <a:ext cx="5417820" cy="2194560"/>
          </a:xfrm>
          <a:prstGeom prst="roundRect">
            <a:avLst>
              <a:gd name="adj" fmla="val 5000"/>
            </a:avLst>
          </a:prstGeom>
          <a:solidFill>
            <a:schemeClr val="bg2"/>
          </a:solidFill>
          <a:ln/>
        </p:spPr>
      </p:sp>
      <p:sp>
        <p:nvSpPr>
          <p:cNvPr id="19" name="Partenariats écoles et événements circle"/>
          <p:cNvSpPr/>
          <p:nvPr/>
        </p:nvSpPr>
        <p:spPr>
          <a:xfrm>
            <a:off x="6469380" y="4114800"/>
            <a:ext cx="548640" cy="548640"/>
          </a:xfrm>
          <a:prstGeom prst="ellipse">
            <a:avLst/>
          </a:prstGeom>
          <a:solidFill>
            <a:schemeClr val="accent2"/>
          </a:solidFill>
          <a:ln/>
        </p:spPr>
      </p:sp>
      <p:pic>
        <p:nvPicPr>
          <p:cNvPr id="20" name="Partenariats écoles et événements icon" descr="Partenariats écoles et événements">    </p:cNvPr>
          <p:cNvPicPr>
            <a:picLocks noChangeAspect="1"/>
          </p:cNvPicPr>
          <p:nvPr/>
        </p:nvPicPr>
        <p:blipFill>
          <a:blip r:embed="rId4"/>
          <a:stretch>
            <a:fillRect/>
          </a:stretch>
        </p:blipFill>
        <p:spPr>
          <a:xfrm>
            <a:off x="6612026" y="4257446"/>
            <a:ext cx="263347" cy="263347"/>
          </a:xfrm>
          <a:prstGeom prst="rect">
            <a:avLst/>
          </a:prstGeom>
        </p:spPr>
      </p:pic>
      <p:sp>
        <p:nvSpPr>
          <p:cNvPr id="21" name="Text 15"/>
          <p:cNvSpPr txBox="1"/>
          <p:nvPr/>
        </p:nvSpPr>
        <p:spPr>
          <a:xfrm>
            <a:off x="715518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Partenariats écoles et événements</a:t>
            </a:r>
            <a:endParaRPr lang="en-US" sz="1700" dirty="0"/>
          </a:p>
        </p:txBody>
      </p:sp>
      <p:sp>
        <p:nvSpPr>
          <p:cNvPr id="22" name="Text 16"/>
          <p:cNvSpPr txBox="1"/>
          <p:nvPr/>
        </p:nvSpPr>
        <p:spPr>
          <a:xfrm>
            <a:off x="646938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Universités, festivals, salons : offres étudiantes et sponsoring contre une mention avec lien sur leurs sites.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SEO levier 3 : stores, avis et marque</a:t>
            </a:r>
            <a:endParaRPr lang="en-US" sz="3600" dirty="0"/>
          </a:p>
        </p:txBody>
      </p:sp>
      <p:sp>
        <p:nvSpPr>
          <p:cNvPr id="3" name="Optimiser les fiches App Store et Play Store"/>
          <p:cNvSpPr/>
          <p:nvPr/>
        </p:nvSpPr>
        <p:spPr>
          <a:xfrm>
            <a:off x="548640" y="1417320"/>
            <a:ext cx="5417820" cy="2194560"/>
          </a:xfrm>
          <a:prstGeom prst="roundRect">
            <a:avLst>
              <a:gd name="adj" fmla="val 5000"/>
            </a:avLst>
          </a:prstGeom>
          <a:solidFill>
            <a:schemeClr val="bg2"/>
          </a:solidFill>
          <a:ln/>
        </p:spPr>
      </p:sp>
      <p:sp>
        <p:nvSpPr>
          <p:cNvPr id="4" name="Optimiser les fiches App Store et Play Store circle"/>
          <p:cNvSpPr/>
          <p:nvPr/>
        </p:nvSpPr>
        <p:spPr>
          <a:xfrm>
            <a:off x="822960" y="1691640"/>
            <a:ext cx="548640" cy="548640"/>
          </a:xfrm>
          <a:prstGeom prst="ellipse">
            <a:avLst/>
          </a:prstGeom>
          <a:solidFill>
            <a:schemeClr val="accent1"/>
          </a:solidFill>
          <a:ln/>
        </p:spPr>
      </p:sp>
      <p:pic>
        <p:nvPicPr>
          <p:cNvPr id="5" name="Optimiser les fiches App Store et Play Store icon" descr="Optimiser les fiches App Store et Play Store">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0876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Optimiser les fiches App Store et Play Store</a:t>
            </a:r>
            <a:endParaRPr lang="en-US" sz="1700" dirty="0"/>
          </a:p>
        </p:txBody>
      </p:sp>
      <p:sp>
        <p:nvSpPr>
          <p:cNvPr id="7" name="Text 4"/>
          <p:cNvSpPr txBox="1"/>
          <p:nvPr/>
        </p:nvSpPr>
        <p:spPr>
          <a:xfrm>
            <a:off x="82296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Titre et description en FR et AR avec « livraison repas », « courses », « taxi » + noms de villes. Captures d'écran adaptées au Maroc.</a:t>
            </a:r>
            <a:endParaRPr lang="en-US" sz="1400" dirty="0"/>
          </a:p>
        </p:txBody>
      </p:sp>
      <p:sp>
        <p:nvSpPr>
          <p:cNvPr id="8" name="Faire monter les avis"/>
          <p:cNvSpPr/>
          <p:nvPr/>
        </p:nvSpPr>
        <p:spPr>
          <a:xfrm>
            <a:off x="6195060" y="1417320"/>
            <a:ext cx="5417820" cy="2194560"/>
          </a:xfrm>
          <a:prstGeom prst="roundRect">
            <a:avLst>
              <a:gd name="adj" fmla="val 5000"/>
            </a:avLst>
          </a:prstGeom>
          <a:solidFill>
            <a:schemeClr val="bg2"/>
          </a:solidFill>
          <a:ln/>
        </p:spPr>
      </p:sp>
      <p:sp>
        <p:nvSpPr>
          <p:cNvPr id="9" name="Faire monter les avis circle"/>
          <p:cNvSpPr/>
          <p:nvPr/>
        </p:nvSpPr>
        <p:spPr>
          <a:xfrm>
            <a:off x="6469380" y="1691640"/>
            <a:ext cx="548640" cy="548640"/>
          </a:xfrm>
          <a:prstGeom prst="ellipse">
            <a:avLst/>
          </a:prstGeom>
          <a:solidFill>
            <a:schemeClr val="accent1"/>
          </a:solidFill>
          <a:ln/>
        </p:spPr>
      </p:sp>
      <p:pic>
        <p:nvPicPr>
          <p:cNvPr id="10" name="Faire monter les avis icon" descr="Faire monter les avis">    </p:cNvPr>
          <p:cNvPicPr>
            <a:picLocks noChangeAspect="1"/>
          </p:cNvPicPr>
          <p:nvPr/>
        </p:nvPicPr>
        <p:blipFill>
          <a:blip r:embed="rId2"/>
          <a:stretch>
            <a:fillRect/>
          </a:stretch>
        </p:blipFill>
        <p:spPr>
          <a:xfrm>
            <a:off x="6612026" y="1834286"/>
            <a:ext cx="263347" cy="263347"/>
          </a:xfrm>
          <a:prstGeom prst="rect">
            <a:avLst/>
          </a:prstGeom>
        </p:spPr>
      </p:pic>
      <p:sp>
        <p:nvSpPr>
          <p:cNvPr id="11" name="Text 7"/>
          <p:cNvSpPr txBox="1"/>
          <p:nvPr/>
        </p:nvSpPr>
        <p:spPr>
          <a:xfrm>
            <a:off x="715518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Faire monter les avis</a:t>
            </a:r>
            <a:endParaRPr lang="en-US" sz="1700" dirty="0"/>
          </a:p>
        </p:txBody>
      </p:sp>
      <p:sp>
        <p:nvSpPr>
          <p:cNvPr id="12" name="Text 8"/>
          <p:cNvSpPr txBox="1"/>
          <p:nvPr/>
        </p:nvSpPr>
        <p:spPr>
          <a:xfrm>
            <a:off x="646938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Demande d'avis dans l'app juste après une commande réussie, jamais après un incident. Répondre à 100 % des avis négatifs sous 48 h.</a:t>
            </a:r>
            <a:endParaRPr lang="en-US" sz="1400" dirty="0"/>
          </a:p>
        </p:txBody>
      </p:sp>
      <p:sp>
        <p:nvSpPr>
          <p:cNvPr id="13" name="Faire chercher « Yassir »"/>
          <p:cNvSpPr/>
          <p:nvPr/>
        </p:nvSpPr>
        <p:spPr>
          <a:xfrm>
            <a:off x="548640" y="3840480"/>
            <a:ext cx="5417820" cy="2194560"/>
          </a:xfrm>
          <a:prstGeom prst="roundRect">
            <a:avLst>
              <a:gd name="adj" fmla="val 5000"/>
            </a:avLst>
          </a:prstGeom>
          <a:solidFill>
            <a:schemeClr val="bg2"/>
          </a:solidFill>
          <a:ln/>
        </p:spPr>
      </p:sp>
      <p:sp>
        <p:nvSpPr>
          <p:cNvPr id="14" name="Faire chercher « Yassir » circle"/>
          <p:cNvSpPr/>
          <p:nvPr/>
        </p:nvSpPr>
        <p:spPr>
          <a:xfrm>
            <a:off x="822960" y="4114800"/>
            <a:ext cx="548640" cy="548640"/>
          </a:xfrm>
          <a:prstGeom prst="ellipse">
            <a:avLst/>
          </a:prstGeom>
          <a:solidFill>
            <a:schemeClr val="accent1"/>
          </a:solidFill>
          <a:ln/>
        </p:spPr>
      </p:sp>
      <p:pic>
        <p:nvPicPr>
          <p:cNvPr id="15" name="Faire chercher « Yassir » icon" descr="Faire chercher « Yassir »">    </p:cNvPr>
          <p:cNvPicPr>
            <a:picLocks noChangeAspect="1"/>
          </p:cNvPicPr>
          <p:nvPr/>
        </p:nvPicPr>
        <p:blipFill>
          <a:blip r:embed="rId3"/>
          <a:stretch>
            <a:fillRect/>
          </a:stretch>
        </p:blipFill>
        <p:spPr>
          <a:xfrm>
            <a:off x="965606" y="4257446"/>
            <a:ext cx="263347" cy="263347"/>
          </a:xfrm>
          <a:prstGeom prst="rect">
            <a:avLst/>
          </a:prstGeom>
        </p:spPr>
      </p:pic>
      <p:sp>
        <p:nvSpPr>
          <p:cNvPr id="16" name="Text 11"/>
          <p:cNvSpPr txBox="1"/>
          <p:nvPr/>
        </p:nvSpPr>
        <p:spPr>
          <a:xfrm>
            <a:off x="150876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Faire chercher « Yassir »</a:t>
            </a:r>
            <a:endParaRPr lang="en-US" sz="1700" dirty="0"/>
          </a:p>
        </p:txBody>
      </p:sp>
      <p:sp>
        <p:nvSpPr>
          <p:cNvPr id="17" name="Text 12"/>
          <p:cNvSpPr txBox="1"/>
          <p:nvPr/>
        </p:nvSpPr>
        <p:spPr>
          <a:xfrm>
            <a:off x="82296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Chaque campagne ads et social augmente les recherches de marque, que Google interprète comme un signal de confiance.</a:t>
            </a:r>
            <a:endParaRPr lang="en-US" sz="1400" dirty="0"/>
          </a:p>
        </p:txBody>
      </p:sp>
      <p:sp>
        <p:nvSpPr>
          <p:cNvPr id="18" name="Ouvrir et relier TikTok"/>
          <p:cNvSpPr/>
          <p:nvPr/>
        </p:nvSpPr>
        <p:spPr>
          <a:xfrm>
            <a:off x="6195060" y="3840480"/>
            <a:ext cx="5417820" cy="2194560"/>
          </a:xfrm>
          <a:prstGeom prst="roundRect">
            <a:avLst>
              <a:gd name="adj" fmla="val 5000"/>
            </a:avLst>
          </a:prstGeom>
          <a:solidFill>
            <a:schemeClr val="bg2"/>
          </a:solidFill>
          <a:ln/>
        </p:spPr>
      </p:sp>
      <p:sp>
        <p:nvSpPr>
          <p:cNvPr id="19" name="Ouvrir et relier TikTok circle"/>
          <p:cNvSpPr/>
          <p:nvPr/>
        </p:nvSpPr>
        <p:spPr>
          <a:xfrm>
            <a:off x="6469380" y="4114800"/>
            <a:ext cx="548640" cy="548640"/>
          </a:xfrm>
          <a:prstGeom prst="ellipse">
            <a:avLst/>
          </a:prstGeom>
          <a:solidFill>
            <a:schemeClr val="accent1"/>
          </a:solidFill>
          <a:ln/>
        </p:spPr>
      </p:sp>
      <p:pic>
        <p:nvPicPr>
          <p:cNvPr id="20" name="Ouvrir et relier TikTok icon" descr="Ouvrir et relier TikTok">    </p:cNvPr>
          <p:cNvPicPr>
            <a:picLocks noChangeAspect="1"/>
          </p:cNvPicPr>
          <p:nvPr/>
        </p:nvPicPr>
        <p:blipFill>
          <a:blip r:embed="rId4"/>
          <a:stretch>
            <a:fillRect/>
          </a:stretch>
        </p:blipFill>
        <p:spPr>
          <a:xfrm>
            <a:off x="6612026" y="4257446"/>
            <a:ext cx="263347" cy="263347"/>
          </a:xfrm>
          <a:prstGeom prst="rect">
            <a:avLst/>
          </a:prstGeom>
        </p:spPr>
      </p:pic>
      <p:sp>
        <p:nvSpPr>
          <p:cNvPr id="21" name="Text 15"/>
          <p:cNvSpPr txBox="1"/>
          <p:nvPr/>
        </p:nvSpPr>
        <p:spPr>
          <a:xfrm>
            <a:off x="715518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Ouvrir et relier TikTok</a:t>
            </a:r>
            <a:endParaRPr lang="en-US" sz="1700" dirty="0"/>
          </a:p>
        </p:txBody>
      </p:sp>
      <p:sp>
        <p:nvSpPr>
          <p:cNvPr id="22" name="Text 16"/>
          <p:cNvSpPr txBox="1"/>
          <p:nvPr/>
        </p:nvSpPr>
        <p:spPr>
          <a:xfrm>
            <a:off x="646938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Aucun lien TikTok aujourd'hui sur le site. Compte relié au site et aux fiches stores, publications régulières en darija.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Ads : quelle plateforme pour quel rôle</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gridCol w="2743200"/>
                <a:gridCol w="3840480"/>
                <a:gridCol w="1554480"/>
              </a:tblGrid>
              <a:tr h="566928">
                <a:tc>
                  <a:txBody>
                    <a:bodyPr/>
                    <a:lstStyle/>
                    <a:p>
                      <a:pPr indent="0" marL="0">
                        <a:buNone/>
                      </a:pPr>
                      <a:r>
                        <a:rPr lang="en-US" sz="1400" b="1" dirty="0">
                          <a:solidFill>
                            <a:schemeClr val="bg1"/>
                          </a:solidFill>
                        </a:rPr>
                        <a:t>Plateforme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Optimisation</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Campagne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Média 4 mois</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Meta (Facebook, Instagram)</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1re commande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App, un seul ensemble de pubs Casablanca</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45 000 DH</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400" dirty="0">
                          <a:solidFill>
                            <a:schemeClr val="tx1"/>
                          </a:solidFill>
                        </a:rPr>
                        <a:t>TikTok</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Inscription, puis 1re commande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App + contenus de créateurs boostés</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28 000 DH</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400" dirty="0">
                          <a:solidFill>
                            <a:schemeClr val="tx1"/>
                          </a:solidFill>
                        </a:rPr>
                        <a:t>Google App Campaigns</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1re commande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Android : Play Store, YouTube</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10 000 DH</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400" dirty="0">
                          <a:solidFill>
                            <a:schemeClr val="tx1"/>
                          </a:solidFill>
                        </a:rPr>
                        <a:t>Google Search</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Clic</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Marque + « livraison repas Casablanca »</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dirty="0">
                          <a:solidFill>
                            <a:schemeClr val="tx1"/>
                          </a:solidFill>
                        </a:rPr>
                        <a:t>7 000 DH</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400" b="1" dirty="0">
                          <a:solidFill>
                            <a:schemeClr val="tx1"/>
                          </a:solidFill>
                        </a:rPr>
                        <a:t>Total média</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400" b="1" dirty="0">
                          <a:solidFill>
                            <a:schemeClr val="tx1"/>
                          </a:solidFill>
                        </a:rPr>
                        <a:t>90 000 DH</a:t>
                      </a:r>
                      <a:endParaRPr lang="en-US" sz="1400" dirty="0"/>
                    </a:p>
                  </a:txBody>
                  <a:tcPr marL="91440" marR="91440"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bl>
          </a:graphicData>
        </a:graphic>
      </p:graphicFrame>
      <p:sp>
        <p:nvSpPr>
          <p:cNvPr id="4" name="Pourquoi si peu de plateformes"/>
          <p:cNvSpPr/>
          <p:nvPr/>
        </p:nvSpPr>
        <p:spPr>
          <a:xfrm>
            <a:off x="548640" y="5029200"/>
            <a:ext cx="11064240" cy="960120"/>
          </a:xfrm>
          <a:prstGeom prst="roundRect">
            <a:avLst>
              <a:gd name="adj" fmla="val 11429"/>
            </a:avLst>
          </a:prstGeom>
          <a:solidFill>
            <a:schemeClr val="bg2"/>
          </a:solidFill>
          <a:ln/>
        </p:spPr>
      </p:sp>
      <p:sp>
        <p:nvSpPr>
          <p:cNvPr id="5" name="Apprentissage circle"/>
          <p:cNvSpPr/>
          <p:nvPr/>
        </p:nvSpPr>
        <p:spPr>
          <a:xfrm>
            <a:off x="777240" y="5212080"/>
            <a:ext cx="548640" cy="548640"/>
          </a:xfrm>
          <a:prstGeom prst="ellipse">
            <a:avLst/>
          </a:prstGeom>
          <a:solidFill>
            <a:schemeClr val="accent3"/>
          </a:solidFill>
          <a:ln/>
        </p:spPr>
      </p:sp>
      <p:pic>
        <p:nvPicPr>
          <p:cNvPr id="6" name="Apprentissage icon" descr="Apprentissage">    </p:cNvPr>
          <p:cNvPicPr>
            <a:picLocks noChangeAspect="1"/>
          </p:cNvPicPr>
          <p:nvPr/>
        </p:nvPicPr>
        <p:blipFill>
          <a:blip r:embed="rId1"/>
          <a:stretch>
            <a:fillRect/>
          </a:stretch>
        </p:blipFill>
        <p:spPr>
          <a:xfrm>
            <a:off x="919886" y="5354726"/>
            <a:ext cx="263347" cy="263347"/>
          </a:xfrm>
          <a:prstGeom prst="rect">
            <a:avLst/>
          </a:prstGeom>
        </p:spPr>
      </p:pic>
      <p:sp>
        <p:nvSpPr>
          <p:cNvPr id="7" name="Text 3"/>
          <p:cNvSpPr txBox="1"/>
          <p:nvPr/>
        </p:nvSpPr>
        <p:spPr>
          <a:xfrm>
            <a:off x="1508760" y="5074920"/>
            <a:ext cx="9875520" cy="868680"/>
          </a:xfrm>
          <a:prstGeom prst="rect">
            <a:avLst/>
          </a:prstGeom>
          <a:noFill/>
          <a:ln/>
        </p:spPr>
        <p:txBody>
          <a:bodyPr wrap="square" lIns="0" tIns="0" rIns="0" bIns="0" rtlCol="0" anchor="ctr"/>
          <a:lstStyle/>
          <a:p>
            <a:pPr indent="0" marL="0">
              <a:buNone/>
            </a:pPr>
            <a:r>
              <a:rPr lang="en-US" sz="1500" b="1" dirty="0">
                <a:solidFill>
                  <a:schemeClr val="tx1"/>
                </a:solidFill>
              </a:rPr>
              <a:t>Pourquoi TikTok sur l'inscription : </a:t>
            </a:r>
            <a:pPr indent="0" marL="0">
              <a:buNone/>
            </a:pPr>
            <a:r>
              <a:rPr lang="en-US" sz="1500" dirty="0">
                <a:solidFill>
                  <a:schemeClr val="tx1"/>
                </a:solidFill>
              </a:rPr>
              <a:t>Meta et TikTok demandent environ 50 conversions par semaine pour apprendre. À 7 000 DH par mois, TikTok n'en aura pas assez sur la 1re commande au début.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80 DH par client : comment ça se répartit</a:t>
            </a:r>
            <a:endParaRPr lang="en-US" sz="3600" dirty="0"/>
          </a:p>
        </p:txBody>
      </p:sp>
      <p:sp>
        <p:nvSpPr>
          <p:cNvPr id="3" name="Média maximum"/>
          <p:cNvSpPr/>
          <p:nvPr/>
        </p:nvSpPr>
        <p:spPr>
          <a:xfrm>
            <a:off x="548640" y="1417320"/>
            <a:ext cx="3520440" cy="2103120"/>
          </a:xfrm>
          <a:prstGeom prst="roundRect">
            <a:avLst>
              <a:gd name="adj" fmla="val 5217"/>
            </a:avLst>
          </a:prstGeom>
          <a:solidFill>
            <a:schemeClr val="bg2"/>
          </a:solidFill>
          <a:ln/>
        </p:spPr>
      </p:sp>
      <p:sp>
        <p:nvSpPr>
          <p:cNvPr id="4" name="Text 2"/>
          <p:cNvSpPr txBox="1"/>
          <p:nvPr/>
        </p:nvSpPr>
        <p:spPr>
          <a:xfrm>
            <a:off x="822960" y="1600200"/>
            <a:ext cx="297180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50 DH</a:t>
            </a:r>
            <a:endParaRPr lang="en-US" sz="5400" dirty="0"/>
          </a:p>
        </p:txBody>
      </p:sp>
      <p:sp>
        <p:nvSpPr>
          <p:cNvPr id="5" name="Text 3"/>
          <p:cNvSpPr txBox="1"/>
          <p:nvPr/>
        </p:nvSpPr>
        <p:spPr>
          <a:xfrm>
            <a:off x="822960" y="2514600"/>
            <a:ext cx="2971800" cy="365760"/>
          </a:xfrm>
          <a:prstGeom prst="rect">
            <a:avLst/>
          </a:prstGeom>
          <a:noFill/>
          <a:ln/>
        </p:spPr>
        <p:txBody>
          <a:bodyPr wrap="square" lIns="0" tIns="0" rIns="0" bIns="0" rtlCol="0" anchor="t"/>
          <a:lstStyle/>
          <a:p>
            <a:pPr indent="0" marL="0">
              <a:buNone/>
            </a:pPr>
            <a:r>
              <a:rPr lang="en-US" sz="1700" b="1" dirty="0">
                <a:solidFill>
                  <a:schemeClr val="tx2"/>
                </a:solidFill>
              </a:rPr>
              <a:t>Média maximum</a:t>
            </a:r>
            <a:endParaRPr lang="en-US" sz="1700" dirty="0"/>
          </a:p>
        </p:txBody>
      </p:sp>
      <p:sp>
        <p:nvSpPr>
          <p:cNvPr id="6" name="Text 4"/>
          <p:cNvSpPr txBox="1"/>
          <p:nvPr/>
        </p:nvSpPr>
        <p:spPr>
          <a:xfrm>
            <a:off x="822960" y="2926080"/>
            <a:ext cx="2971800" cy="502920"/>
          </a:xfrm>
          <a:prstGeom prst="rect">
            <a:avLst/>
          </a:prstGeom>
          <a:noFill/>
          <a:ln/>
        </p:spPr>
        <p:txBody>
          <a:bodyPr wrap="square" lIns="0" tIns="0" rIns="0" bIns="0" rtlCol="0" anchor="t"/>
          <a:lstStyle/>
          <a:p>
            <a:pPr indent="0" marL="0">
              <a:buNone/>
            </a:pPr>
            <a:r>
              <a:rPr lang="en-US" sz="1300" dirty="0">
                <a:solidFill>
                  <a:schemeClr val="accent5"/>
                </a:solidFill>
              </a:rPr>
              <a:t>Ce que les ads peuvent coûter par 1re commande</a:t>
            </a:r>
            <a:endParaRPr lang="en-US" sz="1300" dirty="0"/>
          </a:p>
        </p:txBody>
      </p:sp>
      <p:sp>
        <p:nvSpPr>
          <p:cNvPr id="7" name="Code de bienvenue"/>
          <p:cNvSpPr/>
          <p:nvPr/>
        </p:nvSpPr>
        <p:spPr>
          <a:xfrm>
            <a:off x="4297680" y="1417320"/>
            <a:ext cx="3520440" cy="2103120"/>
          </a:xfrm>
          <a:prstGeom prst="roundRect">
            <a:avLst>
              <a:gd name="adj" fmla="val 5217"/>
            </a:avLst>
          </a:prstGeom>
          <a:solidFill>
            <a:schemeClr val="bg2"/>
          </a:solidFill>
          <a:ln/>
        </p:spPr>
      </p:sp>
      <p:sp>
        <p:nvSpPr>
          <p:cNvPr id="8" name="Text 6"/>
          <p:cNvSpPr txBox="1"/>
          <p:nvPr/>
        </p:nvSpPr>
        <p:spPr>
          <a:xfrm>
            <a:off x="4572000" y="1600200"/>
            <a:ext cx="2971800" cy="86868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30 DH</a:t>
            </a:r>
            <a:endParaRPr lang="en-US" sz="5400" dirty="0"/>
          </a:p>
        </p:txBody>
      </p:sp>
      <p:sp>
        <p:nvSpPr>
          <p:cNvPr id="9" name="Text 7"/>
          <p:cNvSpPr txBox="1"/>
          <p:nvPr/>
        </p:nvSpPr>
        <p:spPr>
          <a:xfrm>
            <a:off x="4572000" y="2514600"/>
            <a:ext cx="2971800" cy="365760"/>
          </a:xfrm>
          <a:prstGeom prst="rect">
            <a:avLst/>
          </a:prstGeom>
          <a:noFill/>
          <a:ln/>
        </p:spPr>
        <p:txBody>
          <a:bodyPr wrap="square" lIns="0" tIns="0" rIns="0" bIns="0" rtlCol="0" anchor="t"/>
          <a:lstStyle/>
          <a:p>
            <a:pPr indent="0" marL="0">
              <a:buNone/>
            </a:pPr>
            <a:r>
              <a:rPr lang="en-US" sz="1700" b="1" dirty="0">
                <a:solidFill>
                  <a:schemeClr val="tx2"/>
                </a:solidFill>
              </a:rPr>
              <a:t>Code de bienvenue</a:t>
            </a:r>
            <a:endParaRPr lang="en-US" sz="1700" dirty="0"/>
          </a:p>
        </p:txBody>
      </p:sp>
      <p:sp>
        <p:nvSpPr>
          <p:cNvPr id="10" name="Text 8"/>
          <p:cNvSpPr txBox="1"/>
          <p:nvPr/>
        </p:nvSpPr>
        <p:spPr>
          <a:xfrm>
            <a:off x="4572000" y="2926080"/>
            <a:ext cx="2971800" cy="502920"/>
          </a:xfrm>
          <a:prstGeom prst="rect">
            <a:avLst/>
          </a:prstGeom>
          <a:noFill/>
          <a:ln/>
        </p:spPr>
        <p:txBody>
          <a:bodyPr wrap="square" lIns="0" tIns="0" rIns="0" bIns="0" rtlCol="0" anchor="t"/>
          <a:lstStyle/>
          <a:p>
            <a:pPr indent="0" marL="0">
              <a:buNone/>
            </a:pPr>
            <a:r>
              <a:rPr lang="en-US" sz="1300" dirty="0">
                <a:solidFill>
                  <a:schemeClr val="accent5"/>
                </a:solidFill>
              </a:rPr>
              <a:t>Réduction offerte sur la 1re commande</a:t>
            </a:r>
            <a:endParaRPr lang="en-US" sz="1300" dirty="0"/>
          </a:p>
        </p:txBody>
      </p:sp>
      <p:sp>
        <p:nvSpPr>
          <p:cNvPr id="11" name="Coût total cible"/>
          <p:cNvSpPr/>
          <p:nvPr/>
        </p:nvSpPr>
        <p:spPr>
          <a:xfrm>
            <a:off x="8046720" y="1417320"/>
            <a:ext cx="3520440" cy="2103120"/>
          </a:xfrm>
          <a:prstGeom prst="roundRect">
            <a:avLst>
              <a:gd name="adj" fmla="val 5217"/>
            </a:avLst>
          </a:prstGeom>
          <a:solidFill>
            <a:schemeClr val="bg2"/>
          </a:solidFill>
          <a:ln/>
        </p:spPr>
      </p:sp>
      <p:sp>
        <p:nvSpPr>
          <p:cNvPr id="12" name="Text 10"/>
          <p:cNvSpPr txBox="1"/>
          <p:nvPr/>
        </p:nvSpPr>
        <p:spPr>
          <a:xfrm>
            <a:off x="8321040" y="1600200"/>
            <a:ext cx="2971800" cy="868680"/>
          </a:xfrm>
          <a:prstGeom prst="rect">
            <a:avLst/>
          </a:prstGeom>
          <a:noFill/>
          <a:ln/>
        </p:spPr>
        <p:txBody>
          <a:bodyPr wrap="square" lIns="0" tIns="0" rIns="0" bIns="0" rtlCol="0" anchor="t"/>
          <a:lstStyle/>
          <a:p>
            <a:pPr indent="0" marL="0">
              <a:buNone/>
            </a:pPr>
            <a:r>
              <a:rPr lang="en-US" sz="5400" b="1" dirty="0">
                <a:solidFill>
                  <a:schemeClr val="accent4"/>
                </a:solidFill>
                <a:latin typeface="Arial" pitchFamily="34" charset="0"/>
                <a:ea typeface="Arial" pitchFamily="34" charset="-122"/>
                <a:cs typeface="Arial" pitchFamily="34" charset="-120"/>
              </a:rPr>
              <a:t>80 DH</a:t>
            </a:r>
            <a:endParaRPr lang="en-US" sz="5400" dirty="0"/>
          </a:p>
        </p:txBody>
      </p:sp>
      <p:sp>
        <p:nvSpPr>
          <p:cNvPr id="13" name="Text 11"/>
          <p:cNvSpPr txBox="1"/>
          <p:nvPr/>
        </p:nvSpPr>
        <p:spPr>
          <a:xfrm>
            <a:off x="8321040" y="2514600"/>
            <a:ext cx="2971800" cy="365760"/>
          </a:xfrm>
          <a:prstGeom prst="rect">
            <a:avLst/>
          </a:prstGeom>
          <a:noFill/>
          <a:ln/>
        </p:spPr>
        <p:txBody>
          <a:bodyPr wrap="square" lIns="0" tIns="0" rIns="0" bIns="0" rtlCol="0" anchor="t"/>
          <a:lstStyle/>
          <a:p>
            <a:pPr indent="0" marL="0">
              <a:buNone/>
            </a:pPr>
            <a:r>
              <a:rPr lang="en-US" sz="1700" b="1" dirty="0">
                <a:solidFill>
                  <a:schemeClr val="tx2"/>
                </a:solidFill>
              </a:rPr>
              <a:t>Coût total cible</a:t>
            </a:r>
            <a:endParaRPr lang="en-US" sz="1700" dirty="0"/>
          </a:p>
        </p:txBody>
      </p:sp>
      <p:sp>
        <p:nvSpPr>
          <p:cNvPr id="14" name="Text 12"/>
          <p:cNvSpPr txBox="1"/>
          <p:nvPr/>
        </p:nvSpPr>
        <p:spPr>
          <a:xfrm>
            <a:off x="8321040" y="2926080"/>
            <a:ext cx="2971800" cy="502920"/>
          </a:xfrm>
          <a:prstGeom prst="rect">
            <a:avLst/>
          </a:prstGeom>
          <a:noFill/>
          <a:ln/>
        </p:spPr>
        <p:txBody>
          <a:bodyPr wrap="square" lIns="0" tIns="0" rIns="0" bIns="0" rtlCol="0" anchor="t"/>
          <a:lstStyle/>
          <a:p>
            <a:pPr indent="0" marL="0">
              <a:buNone/>
            </a:pPr>
            <a:r>
              <a:rPr lang="en-US" sz="1300" dirty="0">
                <a:solidFill>
                  <a:schemeClr val="accent5"/>
                </a:solidFill>
              </a:rPr>
              <a:t>Au-delà, la campagne perd son budget</a:t>
            </a:r>
            <a:endParaRPr lang="en-US" sz="1300" dirty="0"/>
          </a:p>
        </p:txBody>
      </p:sp>
      <p:sp>
        <p:nvSpPr>
          <p:cNvPr id="15" name="Objectif : environ 1 750 nouveaux clients circle"/>
          <p:cNvSpPr/>
          <p:nvPr/>
        </p:nvSpPr>
        <p:spPr>
          <a:xfrm>
            <a:off x="548640" y="3794760"/>
            <a:ext cx="502920" cy="502920"/>
          </a:xfrm>
          <a:prstGeom prst="ellipse">
            <a:avLst/>
          </a:prstGeom>
          <a:solidFill>
            <a:schemeClr val="accent1"/>
          </a:solidFill>
          <a:ln/>
        </p:spPr>
      </p:sp>
      <p:pic>
        <p:nvPicPr>
          <p:cNvPr id="16" name="Objectif : environ 1 750 nouveaux clients icon" descr="Objectif : environ 1 750 nouveaux clients">    </p:cNvPr>
          <p:cNvPicPr>
            <a:picLocks noChangeAspect="1"/>
          </p:cNvPicPr>
          <p:nvPr/>
        </p:nvPicPr>
        <p:blipFill>
          <a:blip r:embed="rId1"/>
          <a:stretch>
            <a:fillRect/>
          </a:stretch>
        </p:blipFill>
        <p:spPr>
          <a:xfrm>
            <a:off x="679399" y="3925519"/>
            <a:ext cx="241402" cy="241402"/>
          </a:xfrm>
          <a:prstGeom prst="rect">
            <a:avLst/>
          </a:prstGeom>
        </p:spPr>
      </p:pic>
      <p:sp>
        <p:nvSpPr>
          <p:cNvPr id="17" name="Text 14"/>
          <p:cNvSpPr txBox="1"/>
          <p:nvPr/>
        </p:nvSpPr>
        <p:spPr>
          <a:xfrm>
            <a:off x="1234440" y="3749040"/>
            <a:ext cx="10378440" cy="685800"/>
          </a:xfrm>
          <a:prstGeom prst="rect">
            <a:avLst/>
          </a:prstGeom>
          <a:noFill/>
          <a:ln/>
        </p:spPr>
        <p:txBody>
          <a:bodyPr wrap="square" lIns="0" tIns="0" rIns="0" bIns="0" rtlCol="0" anchor="ctr"/>
          <a:lstStyle/>
          <a:p>
            <a:pPr indent="0" marL="0">
              <a:buNone/>
            </a:pPr>
            <a:r>
              <a:rPr lang="en-US" sz="1400" b="1" dirty="0">
                <a:solidFill>
                  <a:schemeClr val="tx2"/>
                </a:solidFill>
              </a:rPr>
              <a:t>Objectif : environ 1 750 nouveaux clients : </a:t>
            </a:r>
            <a:pPr indent="0" marL="0">
              <a:buNone/>
            </a:pPr>
            <a:r>
              <a:rPr lang="en-US" sz="1400" dirty="0">
                <a:solidFill>
                  <a:schemeClr val="tx1"/>
                </a:solidFill>
              </a:rPr>
              <a:t>140 000 DH d'acquisition (90 000 de média + 50 000 de codes de bienvenue) ÷ 80 DH.</a:t>
            </a:r>
            <a:endParaRPr lang="en-US" sz="1400" dirty="0"/>
          </a:p>
        </p:txBody>
      </p:sp>
      <p:sp>
        <p:nvSpPr>
          <p:cNvPr id="18" name="Faire financer les promos Black Friday et Ramadan circle"/>
          <p:cNvSpPr/>
          <p:nvPr/>
        </p:nvSpPr>
        <p:spPr>
          <a:xfrm>
            <a:off x="548640" y="4572000"/>
            <a:ext cx="502920" cy="502920"/>
          </a:xfrm>
          <a:prstGeom prst="ellipse">
            <a:avLst/>
          </a:prstGeom>
          <a:solidFill>
            <a:schemeClr val="accent1"/>
          </a:solidFill>
          <a:ln/>
        </p:spPr>
      </p:sp>
      <p:pic>
        <p:nvPicPr>
          <p:cNvPr id="19" name="Faire financer les promos Black Friday et Ramadan icon" descr="Faire financer les promos Black Friday et Ramadan">    </p:cNvPr>
          <p:cNvPicPr>
            <a:picLocks noChangeAspect="1"/>
          </p:cNvPicPr>
          <p:nvPr/>
        </p:nvPicPr>
        <p:blipFill>
          <a:blip r:embed="rId2"/>
          <a:stretch>
            <a:fillRect/>
          </a:stretch>
        </p:blipFill>
        <p:spPr>
          <a:xfrm>
            <a:off x="679399" y="4702759"/>
            <a:ext cx="241402" cy="241402"/>
          </a:xfrm>
          <a:prstGeom prst="rect">
            <a:avLst/>
          </a:prstGeom>
        </p:spPr>
      </p:pic>
      <p:sp>
        <p:nvSpPr>
          <p:cNvPr id="20" name="Text 16"/>
          <p:cNvSpPr txBox="1"/>
          <p:nvPr/>
        </p:nvSpPr>
        <p:spPr>
          <a:xfrm>
            <a:off x="1234440" y="4526280"/>
            <a:ext cx="10378440" cy="685800"/>
          </a:xfrm>
          <a:prstGeom prst="rect">
            <a:avLst/>
          </a:prstGeom>
          <a:noFill/>
          <a:ln/>
        </p:spPr>
        <p:txBody>
          <a:bodyPr wrap="square" lIns="0" tIns="0" rIns="0" bIns="0" rtlCol="0" anchor="ctr"/>
          <a:lstStyle/>
          <a:p>
            <a:pPr indent="0" marL="0">
              <a:buNone/>
            </a:pPr>
            <a:r>
              <a:rPr lang="en-US" sz="1400" b="1" dirty="0">
                <a:solidFill>
                  <a:schemeClr val="tx2"/>
                </a:solidFill>
              </a:rPr>
              <a:t>Faire financer les promos Black Friday et Ramadan : </a:t>
            </a:r>
            <a:pPr indent="0" marL="0">
              <a:buNone/>
            </a:pPr>
            <a:r>
              <a:rPr lang="en-US" sz="1400" dirty="0">
                <a:solidFill>
                  <a:schemeClr val="tx1"/>
                </a:solidFill>
              </a:rPr>
              <a:t>Les codes promo étant dans le budget, les offres aux clients existants doivent être cofinancées par les restaurants partenaires.</a:t>
            </a:r>
            <a:endParaRPr lang="en-US" sz="1400" dirty="0"/>
          </a:p>
        </p:txBody>
      </p:sp>
      <p:sp>
        <p:nvSpPr>
          <p:cNvPr id="21" name="50 DH de média par commande est exigeant circle"/>
          <p:cNvSpPr/>
          <p:nvPr/>
        </p:nvSpPr>
        <p:spPr>
          <a:xfrm>
            <a:off x="548640" y="5349240"/>
            <a:ext cx="502920" cy="502920"/>
          </a:xfrm>
          <a:prstGeom prst="ellipse">
            <a:avLst/>
          </a:prstGeom>
          <a:solidFill>
            <a:schemeClr val="accent1"/>
          </a:solidFill>
          <a:ln/>
        </p:spPr>
      </p:sp>
      <p:pic>
        <p:nvPicPr>
          <p:cNvPr id="22" name="50 DH de média par commande est exigeant icon" descr="50 DH de média par commande est exigeant">    </p:cNvPr>
          <p:cNvPicPr>
            <a:picLocks noChangeAspect="1"/>
          </p:cNvPicPr>
          <p:nvPr/>
        </p:nvPicPr>
        <p:blipFill>
          <a:blip r:embed="rId3"/>
          <a:stretch>
            <a:fillRect/>
          </a:stretch>
        </p:blipFill>
        <p:spPr>
          <a:xfrm>
            <a:off x="679399" y="5479999"/>
            <a:ext cx="241402" cy="241402"/>
          </a:xfrm>
          <a:prstGeom prst="rect">
            <a:avLst/>
          </a:prstGeom>
        </p:spPr>
      </p:pic>
      <p:sp>
        <p:nvSpPr>
          <p:cNvPr id="23" name="Text 18"/>
          <p:cNvSpPr txBox="1"/>
          <p:nvPr/>
        </p:nvSpPr>
        <p:spPr>
          <a:xfrm>
            <a:off x="1234440" y="5303520"/>
            <a:ext cx="10378440" cy="685800"/>
          </a:xfrm>
          <a:prstGeom prst="rect">
            <a:avLst/>
          </a:prstGeom>
          <a:noFill/>
          <a:ln/>
        </p:spPr>
        <p:txBody>
          <a:bodyPr wrap="square" lIns="0" tIns="0" rIns="0" bIns="0" rtlCol="0" anchor="ctr"/>
          <a:lstStyle/>
          <a:p>
            <a:pPr indent="0" marL="0">
              <a:buNone/>
            </a:pPr>
            <a:r>
              <a:rPr lang="en-US" sz="1400" b="1" dirty="0">
                <a:solidFill>
                  <a:schemeClr val="tx2"/>
                </a:solidFill>
              </a:rPr>
              <a:t>50 DH de média par commande est exigeant : </a:t>
            </a:r>
            <a:pPr indent="0" marL="0">
              <a:buNone/>
            </a:pPr>
            <a:r>
              <a:rPr lang="en-US" sz="1400" dirty="0">
                <a:solidFill>
                  <a:schemeClr val="tx1"/>
                </a:solidFill>
              </a:rPr>
              <a:t>C'est un plafond, pas une prévision : il sera confirmé ou démenti après 2 semaines. S'il ne tient pas, baisser le code à 20 DH avant de couper les ads.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Créatifs : quatre angles à tester</a:t>
            </a:r>
            <a:endParaRPr lang="en-US" sz="3600" dirty="0"/>
          </a:p>
        </p:txBody>
      </p:sp>
      <p:sp>
        <p:nvSpPr>
          <p:cNvPr id="3" name="Prix : la première commande offerte"/>
          <p:cNvSpPr/>
          <p:nvPr/>
        </p:nvSpPr>
        <p:spPr>
          <a:xfrm>
            <a:off x="548640" y="1417320"/>
            <a:ext cx="5417820" cy="2057400"/>
          </a:xfrm>
          <a:prstGeom prst="roundRect">
            <a:avLst>
              <a:gd name="adj" fmla="val 5333"/>
            </a:avLst>
          </a:prstGeom>
          <a:solidFill>
            <a:schemeClr val="bg2"/>
          </a:solidFill>
          <a:ln/>
        </p:spPr>
      </p:sp>
      <p:sp>
        <p:nvSpPr>
          <p:cNvPr id="4" name="Prix : la première commande offerte circle"/>
          <p:cNvSpPr/>
          <p:nvPr/>
        </p:nvSpPr>
        <p:spPr>
          <a:xfrm>
            <a:off x="822960" y="1691640"/>
            <a:ext cx="548640" cy="548640"/>
          </a:xfrm>
          <a:prstGeom prst="ellipse">
            <a:avLst/>
          </a:prstGeom>
          <a:solidFill>
            <a:schemeClr val="accent1"/>
          </a:solidFill>
          <a:ln/>
        </p:spPr>
      </p:sp>
      <p:pic>
        <p:nvPicPr>
          <p:cNvPr id="5" name="Prix : la première commande offerte icon" descr="Prix : la première commande offerte">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0876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Prix : la première commande offerte</a:t>
            </a:r>
            <a:endParaRPr lang="en-US" sz="1700" dirty="0"/>
          </a:p>
        </p:txBody>
      </p:sp>
      <p:sp>
        <p:nvSpPr>
          <p:cNvPr id="7" name="Text 4"/>
          <p:cNvSpPr txBox="1"/>
          <p:nvPr/>
        </p:nvSpPr>
        <p:spPr>
          <a:xfrm>
            <a:off x="822960" y="2377440"/>
            <a:ext cx="4869180" cy="960120"/>
          </a:xfrm>
          <a:prstGeom prst="rect">
            <a:avLst/>
          </a:prstGeom>
          <a:noFill/>
          <a:ln/>
        </p:spPr>
        <p:txBody>
          <a:bodyPr wrap="square" lIns="0" tIns="0" rIns="0" bIns="0" rtlCol="0" anchor="t"/>
          <a:lstStyle/>
          <a:p>
            <a:pPr indent="0" marL="0">
              <a:buNone/>
            </a:pPr>
            <a:r>
              <a:rPr lang="en-US" sz="1400" dirty="0">
                <a:solidFill>
                  <a:schemeClr val="tx1"/>
                </a:solidFill>
              </a:rPr>
              <a:t>Code promo de bienvenue, livraison gratuite. Le levier le plus direct pour l'acquisition, à limiter dans le temps.</a:t>
            </a:r>
            <a:endParaRPr lang="en-US" sz="1400" dirty="0"/>
          </a:p>
        </p:txBody>
      </p:sp>
      <p:sp>
        <p:nvSpPr>
          <p:cNvPr id="8" name="Humour en darija, format UGC"/>
          <p:cNvSpPr/>
          <p:nvPr/>
        </p:nvSpPr>
        <p:spPr>
          <a:xfrm>
            <a:off x="6195060" y="1417320"/>
            <a:ext cx="5417820" cy="2057400"/>
          </a:xfrm>
          <a:prstGeom prst="roundRect">
            <a:avLst>
              <a:gd name="adj" fmla="val 5333"/>
            </a:avLst>
          </a:prstGeom>
          <a:solidFill>
            <a:schemeClr val="bg2"/>
          </a:solidFill>
          <a:ln/>
        </p:spPr>
      </p:sp>
      <p:sp>
        <p:nvSpPr>
          <p:cNvPr id="9" name="Humour en darija, format UGC circle"/>
          <p:cNvSpPr/>
          <p:nvPr/>
        </p:nvSpPr>
        <p:spPr>
          <a:xfrm>
            <a:off x="6469380" y="1691640"/>
            <a:ext cx="548640" cy="548640"/>
          </a:xfrm>
          <a:prstGeom prst="ellipse">
            <a:avLst/>
          </a:prstGeom>
          <a:solidFill>
            <a:schemeClr val="accent1"/>
          </a:solidFill>
          <a:ln/>
        </p:spPr>
      </p:sp>
      <p:pic>
        <p:nvPicPr>
          <p:cNvPr id="10" name="Humour en darija, format UGC icon" descr="Humour en darija, format UGC">    </p:cNvPr>
          <p:cNvPicPr>
            <a:picLocks noChangeAspect="1"/>
          </p:cNvPicPr>
          <p:nvPr/>
        </p:nvPicPr>
        <p:blipFill>
          <a:blip r:embed="rId2"/>
          <a:stretch>
            <a:fillRect/>
          </a:stretch>
        </p:blipFill>
        <p:spPr>
          <a:xfrm>
            <a:off x="6612026" y="1834286"/>
            <a:ext cx="263347" cy="263347"/>
          </a:xfrm>
          <a:prstGeom prst="rect">
            <a:avLst/>
          </a:prstGeom>
        </p:spPr>
      </p:pic>
      <p:sp>
        <p:nvSpPr>
          <p:cNvPr id="11" name="Text 7"/>
          <p:cNvSpPr txBox="1"/>
          <p:nvPr/>
        </p:nvSpPr>
        <p:spPr>
          <a:xfrm>
            <a:off x="715518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Humour en darija, format UGC</a:t>
            </a:r>
            <a:endParaRPr lang="en-US" sz="1700" dirty="0"/>
          </a:p>
        </p:txBody>
      </p:sp>
      <p:sp>
        <p:nvSpPr>
          <p:cNvPr id="12" name="Text 8"/>
          <p:cNvSpPr txBox="1"/>
          <p:nvPr/>
        </p:nvSpPr>
        <p:spPr>
          <a:xfrm>
            <a:off x="6469380" y="2377440"/>
            <a:ext cx="4869180" cy="960120"/>
          </a:xfrm>
          <a:prstGeom prst="rect">
            <a:avLst/>
          </a:prstGeom>
          <a:noFill/>
          <a:ln/>
        </p:spPr>
        <p:txBody>
          <a:bodyPr wrap="square" lIns="0" tIns="0" rIns="0" bIns="0" rtlCol="0" anchor="t"/>
          <a:lstStyle/>
          <a:p>
            <a:pPr indent="0" marL="0">
              <a:buNone/>
            </a:pPr>
            <a:r>
              <a:rPr lang="en-US" sz="1400" dirty="0">
                <a:solidFill>
                  <a:schemeClr val="tx1"/>
                </a:solidFill>
              </a:rPr>
              <a:t>Vidéos tournées au téléphone par des créateurs : la faim à minuit, le match entre amis, la pluie. Plus crédible qu'une pub studio.</a:t>
            </a:r>
            <a:endParaRPr lang="en-US" sz="1400" dirty="0"/>
          </a:p>
        </p:txBody>
      </p:sp>
      <p:sp>
        <p:nvSpPr>
          <p:cNvPr id="13" name="« Commandez pour vos proches »"/>
          <p:cNvSpPr/>
          <p:nvPr/>
        </p:nvSpPr>
        <p:spPr>
          <a:xfrm>
            <a:off x="548640" y="3703320"/>
            <a:ext cx="5417820" cy="2057400"/>
          </a:xfrm>
          <a:prstGeom prst="roundRect">
            <a:avLst>
              <a:gd name="adj" fmla="val 5333"/>
            </a:avLst>
          </a:prstGeom>
          <a:solidFill>
            <a:schemeClr val="bg2"/>
          </a:solidFill>
          <a:ln/>
        </p:spPr>
      </p:sp>
      <p:sp>
        <p:nvSpPr>
          <p:cNvPr id="14" name="« Commandez pour vos proches » circle"/>
          <p:cNvSpPr/>
          <p:nvPr/>
        </p:nvSpPr>
        <p:spPr>
          <a:xfrm>
            <a:off x="822960" y="3977640"/>
            <a:ext cx="548640" cy="548640"/>
          </a:xfrm>
          <a:prstGeom prst="ellipse">
            <a:avLst/>
          </a:prstGeom>
          <a:solidFill>
            <a:schemeClr val="accent1"/>
          </a:solidFill>
          <a:ln/>
        </p:spPr>
      </p:sp>
      <p:pic>
        <p:nvPicPr>
          <p:cNvPr id="15" name="« Commandez pour vos proches » icon" descr="« Commandez pour vos proches »">    </p:cNvPr>
          <p:cNvPicPr>
            <a:picLocks noChangeAspect="1"/>
          </p:cNvPicPr>
          <p:nvPr/>
        </p:nvPicPr>
        <p:blipFill>
          <a:blip r:embed="rId3"/>
          <a:stretch>
            <a:fillRect/>
          </a:stretch>
        </p:blipFill>
        <p:spPr>
          <a:xfrm>
            <a:off x="965606" y="4120286"/>
            <a:ext cx="263347" cy="263347"/>
          </a:xfrm>
          <a:prstGeom prst="rect">
            <a:avLst/>
          </a:prstGeom>
        </p:spPr>
      </p:pic>
      <p:sp>
        <p:nvSpPr>
          <p:cNvPr id="16" name="Text 11"/>
          <p:cNvSpPr txBox="1"/>
          <p:nvPr/>
        </p:nvSpPr>
        <p:spPr>
          <a:xfrm>
            <a:off x="1508760" y="3931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 Commandez pour vos proches »</a:t>
            </a:r>
            <a:endParaRPr lang="en-US" sz="1700" dirty="0"/>
          </a:p>
        </p:txBody>
      </p:sp>
      <p:sp>
        <p:nvSpPr>
          <p:cNvPr id="17" name="Text 12"/>
          <p:cNvSpPr txBox="1"/>
          <p:nvPr/>
        </p:nvSpPr>
        <p:spPr>
          <a:xfrm>
            <a:off x="822960" y="4663440"/>
            <a:ext cx="4869180" cy="960120"/>
          </a:xfrm>
          <a:prstGeom prst="rect">
            <a:avLst/>
          </a:prstGeom>
          <a:noFill/>
          <a:ln/>
        </p:spPr>
        <p:txBody>
          <a:bodyPr wrap="square" lIns="0" tIns="0" rIns="0" bIns="0" rtlCol="0" anchor="t"/>
          <a:lstStyle/>
          <a:p>
            <a:pPr indent="0" marL="0">
              <a:buNone/>
            </a:pPr>
            <a:r>
              <a:rPr lang="en-US" sz="1400" dirty="0">
                <a:solidFill>
                  <a:schemeClr val="tx1"/>
                </a:solidFill>
              </a:rPr>
              <a:t>Ciblage MRE en France, Belgique, Espagne, Italie : commander un repas ou une course pour la famille au Maroc. Angle peu exploité.</a:t>
            </a:r>
            <a:endParaRPr lang="en-US" sz="1400" dirty="0"/>
          </a:p>
        </p:txBody>
      </p:sp>
      <p:sp>
        <p:nvSpPr>
          <p:cNvPr id="18" name="Rapidité, sans promesse chiffrée"/>
          <p:cNvSpPr/>
          <p:nvPr/>
        </p:nvSpPr>
        <p:spPr>
          <a:xfrm>
            <a:off x="6195060" y="3703320"/>
            <a:ext cx="5417820" cy="2057400"/>
          </a:xfrm>
          <a:prstGeom prst="roundRect">
            <a:avLst>
              <a:gd name="adj" fmla="val 5333"/>
            </a:avLst>
          </a:prstGeom>
          <a:solidFill>
            <a:schemeClr val="bg2"/>
          </a:solidFill>
          <a:ln/>
        </p:spPr>
      </p:sp>
      <p:sp>
        <p:nvSpPr>
          <p:cNvPr id="19" name="Rapidité, sans promesse chiffrée circle"/>
          <p:cNvSpPr/>
          <p:nvPr/>
        </p:nvSpPr>
        <p:spPr>
          <a:xfrm>
            <a:off x="6469380" y="3977640"/>
            <a:ext cx="548640" cy="548640"/>
          </a:xfrm>
          <a:prstGeom prst="ellipse">
            <a:avLst/>
          </a:prstGeom>
          <a:solidFill>
            <a:schemeClr val="accent1"/>
          </a:solidFill>
          <a:ln/>
        </p:spPr>
      </p:sp>
      <p:pic>
        <p:nvPicPr>
          <p:cNvPr id="20" name="Rapidité, sans promesse chiffrée icon" descr="Rapidité, sans promesse chiffrée">    </p:cNvPr>
          <p:cNvPicPr>
            <a:picLocks noChangeAspect="1"/>
          </p:cNvPicPr>
          <p:nvPr/>
        </p:nvPicPr>
        <p:blipFill>
          <a:blip r:embed="rId4"/>
          <a:stretch>
            <a:fillRect/>
          </a:stretch>
        </p:blipFill>
        <p:spPr>
          <a:xfrm>
            <a:off x="6612026" y="4120286"/>
            <a:ext cx="263347" cy="263347"/>
          </a:xfrm>
          <a:prstGeom prst="rect">
            <a:avLst/>
          </a:prstGeom>
        </p:spPr>
      </p:pic>
      <p:sp>
        <p:nvSpPr>
          <p:cNvPr id="21" name="Text 15"/>
          <p:cNvSpPr txBox="1"/>
          <p:nvPr/>
        </p:nvSpPr>
        <p:spPr>
          <a:xfrm>
            <a:off x="7155180" y="3931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Rapidité, sans promesse chiffrée</a:t>
            </a:r>
            <a:endParaRPr lang="en-US" sz="1700" dirty="0"/>
          </a:p>
        </p:txBody>
      </p:sp>
      <p:sp>
        <p:nvSpPr>
          <p:cNvPr id="22" name="Text 16"/>
          <p:cNvSpPr txBox="1"/>
          <p:nvPr/>
        </p:nvSpPr>
        <p:spPr>
          <a:xfrm>
            <a:off x="6469380" y="4663440"/>
            <a:ext cx="4869180" cy="960120"/>
          </a:xfrm>
          <a:prstGeom prst="rect">
            <a:avLst/>
          </a:prstGeom>
          <a:noFill/>
          <a:ln/>
        </p:spPr>
        <p:txBody>
          <a:bodyPr wrap="square" lIns="0" tIns="0" rIns="0" bIns="0" rtlCol="0" anchor="t"/>
          <a:lstStyle/>
          <a:p>
            <a:pPr indent="0" marL="0">
              <a:buNone/>
            </a:pPr>
            <a:r>
              <a:rPr lang="en-US" sz="1400" dirty="0">
                <a:solidFill>
                  <a:schemeClr val="tx1"/>
                </a:solidFill>
              </a:rPr>
              <a:t>« Livré pendant que vous mettez la table » plutôt que « en 35 minutes », tant que la promesse n'est pas sourcée.</a:t>
            </a:r>
            <a:endParaRPr lang="en-US" sz="1400" dirty="0"/>
          </a:p>
        </p:txBody>
      </p:sp>
      <p:sp>
        <p:nvSpPr>
          <p:cNvPr id="23" name="Text 17"/>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500" b="1" dirty="0">
                <a:solidFill>
                  <a:schemeClr val="accent1"/>
                </a:solidFill>
              </a:rPr>
              <a:t>Règle de test : </a:t>
            </a:r>
            <a:pPr indent="0" marL="0">
              <a:buNone/>
            </a:pPr>
            <a:r>
              <a:rPr lang="en-US" sz="1500" dirty="0">
                <a:solidFill>
                  <a:schemeClr val="tx1"/>
                </a:solidFill>
              </a:rPr>
              <a:t>3 accroches par angle, renouvelées toutes les 2 semaines. Couper une pub après un budget de test sans première commande.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Calendrier des temps forts</a:t>
            </a:r>
            <a:endParaRPr lang="en-US" sz="3600" dirty="0"/>
          </a:p>
        </p:txBody>
      </p:sp>
      <p:sp>
        <p:nvSpPr>
          <p:cNvPr id="3" name="Text 1"/>
          <p:cNvSpPr txBox="1"/>
          <p:nvPr/>
        </p:nvSpPr>
        <p:spPr>
          <a:xfrm>
            <a:off x="548640" y="1371600"/>
            <a:ext cx="2606040" cy="365760"/>
          </a:xfrm>
          <a:prstGeom prst="rect">
            <a:avLst/>
          </a:prstGeom>
          <a:noFill/>
          <a:ln/>
        </p:spPr>
        <p:txBody>
          <a:bodyPr wrap="square" lIns="0" tIns="0" rIns="0" bIns="0" rtlCol="0" anchor="t"/>
          <a:lstStyle/>
          <a:p>
            <a:pPr indent="0" marL="0">
              <a:buNone/>
            </a:pPr>
            <a:r>
              <a:rPr lang="en-US" sz="1600" b="1" dirty="0">
                <a:solidFill>
                  <a:schemeClr val="accent5"/>
                </a:solidFill>
              </a:rPr>
              <a:t>Novembre</a:t>
            </a:r>
            <a:endParaRPr lang="en-US" sz="1600" dirty="0"/>
          </a:p>
        </p:txBody>
      </p:sp>
      <p:sp>
        <p:nvSpPr>
          <p:cNvPr id="4" name="Novembre"/>
          <p:cNvSpPr/>
          <p:nvPr/>
        </p:nvSpPr>
        <p:spPr>
          <a:xfrm>
            <a:off x="548640" y="1783080"/>
            <a:ext cx="2606040" cy="4114800"/>
          </a:xfrm>
          <a:prstGeom prst="roundRect">
            <a:avLst>
              <a:gd name="adj" fmla="val 4211"/>
            </a:avLst>
          </a:prstGeom>
          <a:solidFill>
            <a:schemeClr val="bg2"/>
          </a:solidFill>
          <a:ln/>
        </p:spPr>
      </p:sp>
      <p:sp>
        <p:nvSpPr>
          <p:cNvPr id="5" name="Black Friday circle"/>
          <p:cNvSpPr/>
          <p:nvPr/>
        </p:nvSpPr>
        <p:spPr>
          <a:xfrm>
            <a:off x="822960" y="2011680"/>
            <a:ext cx="594360" cy="594360"/>
          </a:xfrm>
          <a:prstGeom prst="ellipse">
            <a:avLst/>
          </a:prstGeom>
          <a:solidFill>
            <a:schemeClr val="accent1"/>
          </a:solidFill>
          <a:ln/>
        </p:spPr>
      </p:sp>
      <p:pic>
        <p:nvPicPr>
          <p:cNvPr id="6" name="Black Friday icon" descr="Black Friday">    </p:cNvPr>
          <p:cNvPicPr>
            <a:picLocks noChangeAspect="1"/>
          </p:cNvPicPr>
          <p:nvPr/>
        </p:nvPicPr>
        <p:blipFill>
          <a:blip r:embed="rId1"/>
          <a:stretch>
            <a:fillRect/>
          </a:stretch>
        </p:blipFill>
        <p:spPr>
          <a:xfrm>
            <a:off x="977494" y="2166214"/>
            <a:ext cx="285293" cy="285293"/>
          </a:xfrm>
          <a:prstGeom prst="rect">
            <a:avLst/>
          </a:prstGeom>
        </p:spPr>
      </p:pic>
      <p:sp>
        <p:nvSpPr>
          <p:cNvPr id="7" name="Text 4"/>
          <p:cNvSpPr txBox="1"/>
          <p:nvPr/>
        </p:nvSpPr>
        <p:spPr>
          <a:xfrm>
            <a:off x="822960" y="2743200"/>
            <a:ext cx="2103120" cy="685800"/>
          </a:xfrm>
          <a:prstGeom prst="rect">
            <a:avLst/>
          </a:prstGeom>
          <a:noFill/>
          <a:ln/>
        </p:spPr>
        <p:txBody>
          <a:bodyPr wrap="square" lIns="0" tIns="0" rIns="0" bIns="0" rtlCol="0" anchor="t"/>
          <a:lstStyle/>
          <a:p>
            <a:pPr indent="0" marL="0">
              <a:buNone/>
            </a:pPr>
            <a:r>
              <a:rPr lang="en-US" sz="1800" b="1" dirty="0">
                <a:solidFill>
                  <a:schemeClr val="tx2"/>
                </a:solidFill>
              </a:rPr>
              <a:t>Black Friday</a:t>
            </a:r>
            <a:endParaRPr lang="en-US" sz="1800" dirty="0"/>
          </a:p>
        </p:txBody>
      </p:sp>
      <p:sp>
        <p:nvSpPr>
          <p:cNvPr id="8" name="Text 5"/>
          <p:cNvSpPr txBox="1"/>
          <p:nvPr/>
        </p:nvSpPr>
        <p:spPr>
          <a:xfrm>
            <a:off x="822960" y="3474720"/>
            <a:ext cx="2103120" cy="2286000"/>
          </a:xfrm>
          <a:prstGeom prst="rect">
            <a:avLst/>
          </a:prstGeom>
          <a:noFill/>
          <a:ln/>
        </p:spPr>
        <p:txBody>
          <a:bodyPr wrap="square" lIns="0" tIns="0" rIns="0" bIns="0" rtlCol="0" anchor="t"/>
          <a:lstStyle/>
          <a:p>
            <a:pPr indent="0" marL="0">
              <a:buNone/>
            </a:pPr>
            <a:r>
              <a:rPr lang="en-US" sz="1400" dirty="0">
                <a:solidFill>
                  <a:schemeClr val="tx1"/>
                </a:solidFill>
              </a:rPr>
              <a:t>« Yassir Friday » : une semaine d'offres Food et Market autour du 27/11, cofinancées par les restaurants. Longs week-ends : offres génériques, sans thème national.</a:t>
            </a:r>
            <a:endParaRPr lang="en-US" sz="1400" dirty="0"/>
          </a:p>
        </p:txBody>
      </p:sp>
      <p:sp>
        <p:nvSpPr>
          <p:cNvPr id="9" name="Text 6"/>
          <p:cNvSpPr txBox="1"/>
          <p:nvPr/>
        </p:nvSpPr>
        <p:spPr>
          <a:xfrm>
            <a:off x="3360420" y="1371600"/>
            <a:ext cx="2606040" cy="365760"/>
          </a:xfrm>
          <a:prstGeom prst="rect">
            <a:avLst/>
          </a:prstGeom>
          <a:noFill/>
          <a:ln/>
        </p:spPr>
        <p:txBody>
          <a:bodyPr wrap="square" lIns="0" tIns="0" rIns="0" bIns="0" rtlCol="0" anchor="t"/>
          <a:lstStyle/>
          <a:p>
            <a:pPr indent="0" marL="0">
              <a:buNone/>
            </a:pPr>
            <a:r>
              <a:rPr lang="en-US" sz="1600" b="1" dirty="0">
                <a:solidFill>
                  <a:schemeClr val="accent5"/>
                </a:solidFill>
              </a:rPr>
              <a:t>Décembre</a:t>
            </a:r>
            <a:endParaRPr lang="en-US" sz="1600" dirty="0"/>
          </a:p>
        </p:txBody>
      </p:sp>
      <p:sp>
        <p:nvSpPr>
          <p:cNvPr id="10" name="Décembre"/>
          <p:cNvSpPr/>
          <p:nvPr/>
        </p:nvSpPr>
        <p:spPr>
          <a:xfrm>
            <a:off x="3360420" y="1783080"/>
            <a:ext cx="2606040" cy="4114800"/>
          </a:xfrm>
          <a:prstGeom prst="roundRect">
            <a:avLst>
              <a:gd name="adj" fmla="val 4211"/>
            </a:avLst>
          </a:prstGeom>
          <a:solidFill>
            <a:schemeClr val="bg2"/>
          </a:solidFill>
          <a:ln/>
        </p:spPr>
      </p:sp>
      <p:sp>
        <p:nvSpPr>
          <p:cNvPr id="11" name="Pluie et fin d'année circle"/>
          <p:cNvSpPr/>
          <p:nvPr/>
        </p:nvSpPr>
        <p:spPr>
          <a:xfrm>
            <a:off x="3634740" y="2011680"/>
            <a:ext cx="594360" cy="594360"/>
          </a:xfrm>
          <a:prstGeom prst="ellipse">
            <a:avLst/>
          </a:prstGeom>
          <a:solidFill>
            <a:schemeClr val="accent1"/>
          </a:solidFill>
          <a:ln/>
        </p:spPr>
      </p:sp>
      <p:pic>
        <p:nvPicPr>
          <p:cNvPr id="12" name="Pluie et fin d'année icon" descr="Pluie et fin d'année">    </p:cNvPr>
          <p:cNvPicPr>
            <a:picLocks noChangeAspect="1"/>
          </p:cNvPicPr>
          <p:nvPr/>
        </p:nvPicPr>
        <p:blipFill>
          <a:blip r:embed="rId2"/>
          <a:stretch>
            <a:fillRect/>
          </a:stretch>
        </p:blipFill>
        <p:spPr>
          <a:xfrm>
            <a:off x="3789274" y="2166214"/>
            <a:ext cx="285293" cy="285293"/>
          </a:xfrm>
          <a:prstGeom prst="rect">
            <a:avLst/>
          </a:prstGeom>
        </p:spPr>
      </p:pic>
      <p:sp>
        <p:nvSpPr>
          <p:cNvPr id="13" name="Text 9"/>
          <p:cNvSpPr txBox="1"/>
          <p:nvPr/>
        </p:nvSpPr>
        <p:spPr>
          <a:xfrm>
            <a:off x="3634740" y="2743200"/>
            <a:ext cx="2103120" cy="685800"/>
          </a:xfrm>
          <a:prstGeom prst="rect">
            <a:avLst/>
          </a:prstGeom>
          <a:noFill/>
          <a:ln/>
        </p:spPr>
        <p:txBody>
          <a:bodyPr wrap="square" lIns="0" tIns="0" rIns="0" bIns="0" rtlCol="0" anchor="t"/>
          <a:lstStyle/>
          <a:p>
            <a:pPr indent="0" marL="0">
              <a:buNone/>
            </a:pPr>
            <a:r>
              <a:rPr lang="en-US" sz="1800" b="1" dirty="0">
                <a:solidFill>
                  <a:schemeClr val="tx2"/>
                </a:solidFill>
              </a:rPr>
              <a:t>Pluie et fin d'année</a:t>
            </a:r>
            <a:endParaRPr lang="en-US" sz="1800" dirty="0"/>
          </a:p>
        </p:txBody>
      </p:sp>
      <p:sp>
        <p:nvSpPr>
          <p:cNvPr id="14" name="Text 10"/>
          <p:cNvSpPr txBox="1"/>
          <p:nvPr/>
        </p:nvSpPr>
        <p:spPr>
          <a:xfrm>
            <a:off x="3634740" y="3474720"/>
            <a:ext cx="2103120" cy="2286000"/>
          </a:xfrm>
          <a:prstGeom prst="rect">
            <a:avLst/>
          </a:prstGeom>
          <a:noFill/>
          <a:ln/>
        </p:spPr>
        <p:txBody>
          <a:bodyPr wrap="square" lIns="0" tIns="0" rIns="0" bIns="0" rtlCol="0" anchor="t"/>
          <a:lstStyle/>
          <a:p>
            <a:pPr indent="0" marL="0">
              <a:buNone/>
            </a:pPr>
            <a:r>
              <a:rPr lang="en-US" sz="1400" dirty="0">
                <a:solidFill>
                  <a:schemeClr val="tx1"/>
                </a:solidFill>
              </a:rPr>
              <a:t>Campagnes déclenchées par la météo (« Il pleut ? On livre »). Soirées du 31/12 : livraison tardive et courses.</a:t>
            </a:r>
            <a:endParaRPr lang="en-US" sz="1400" dirty="0"/>
          </a:p>
        </p:txBody>
      </p:sp>
      <p:sp>
        <p:nvSpPr>
          <p:cNvPr id="15" name="Text 11"/>
          <p:cNvSpPr txBox="1"/>
          <p:nvPr/>
        </p:nvSpPr>
        <p:spPr>
          <a:xfrm>
            <a:off x="6172200" y="1371600"/>
            <a:ext cx="2606040" cy="365760"/>
          </a:xfrm>
          <a:prstGeom prst="rect">
            <a:avLst/>
          </a:prstGeom>
          <a:noFill/>
          <a:ln/>
        </p:spPr>
        <p:txBody>
          <a:bodyPr wrap="square" lIns="0" tIns="0" rIns="0" bIns="0" rtlCol="0" anchor="t"/>
          <a:lstStyle/>
          <a:p>
            <a:pPr indent="0" marL="0">
              <a:buNone/>
            </a:pPr>
            <a:r>
              <a:rPr lang="en-US" sz="1600" b="1" dirty="0">
                <a:solidFill>
                  <a:schemeClr val="accent5"/>
                </a:solidFill>
              </a:rPr>
              <a:t>Janvier</a:t>
            </a:r>
            <a:endParaRPr lang="en-US" sz="1600" dirty="0"/>
          </a:p>
        </p:txBody>
      </p:sp>
      <p:sp>
        <p:nvSpPr>
          <p:cNvPr id="16" name="Janvier"/>
          <p:cNvSpPr/>
          <p:nvPr/>
        </p:nvSpPr>
        <p:spPr>
          <a:xfrm>
            <a:off x="6172200" y="1783080"/>
            <a:ext cx="2606040" cy="4114800"/>
          </a:xfrm>
          <a:prstGeom prst="roundRect">
            <a:avLst>
              <a:gd name="adj" fmla="val 4211"/>
            </a:avLst>
          </a:prstGeom>
          <a:solidFill>
            <a:schemeClr val="bg2"/>
          </a:solidFill>
          <a:ln/>
        </p:spPr>
      </p:sp>
      <p:sp>
        <p:nvSpPr>
          <p:cNvPr id="17" name="Rentrée et Yennayer circle"/>
          <p:cNvSpPr/>
          <p:nvPr/>
        </p:nvSpPr>
        <p:spPr>
          <a:xfrm>
            <a:off x="6446520" y="2011680"/>
            <a:ext cx="594360" cy="594360"/>
          </a:xfrm>
          <a:prstGeom prst="ellipse">
            <a:avLst/>
          </a:prstGeom>
          <a:solidFill>
            <a:schemeClr val="accent1"/>
          </a:solidFill>
          <a:ln/>
        </p:spPr>
      </p:sp>
      <p:pic>
        <p:nvPicPr>
          <p:cNvPr id="18" name="Rentrée et Yennayer icon" descr="Rentrée et Yennayer">    </p:cNvPr>
          <p:cNvPicPr>
            <a:picLocks noChangeAspect="1"/>
          </p:cNvPicPr>
          <p:nvPr/>
        </p:nvPicPr>
        <p:blipFill>
          <a:blip r:embed="rId3"/>
          <a:stretch>
            <a:fillRect/>
          </a:stretch>
        </p:blipFill>
        <p:spPr>
          <a:xfrm>
            <a:off x="6601054" y="2166214"/>
            <a:ext cx="285293" cy="285293"/>
          </a:xfrm>
          <a:prstGeom prst="rect">
            <a:avLst/>
          </a:prstGeom>
        </p:spPr>
      </p:pic>
      <p:sp>
        <p:nvSpPr>
          <p:cNvPr id="19" name="Text 14"/>
          <p:cNvSpPr txBox="1"/>
          <p:nvPr/>
        </p:nvSpPr>
        <p:spPr>
          <a:xfrm>
            <a:off x="6446520" y="2743200"/>
            <a:ext cx="2103120" cy="685800"/>
          </a:xfrm>
          <a:prstGeom prst="rect">
            <a:avLst/>
          </a:prstGeom>
          <a:noFill/>
          <a:ln/>
        </p:spPr>
        <p:txBody>
          <a:bodyPr wrap="square" lIns="0" tIns="0" rIns="0" bIns="0" rtlCol="0" anchor="t"/>
          <a:lstStyle/>
          <a:p>
            <a:pPr indent="0" marL="0">
              <a:buNone/>
            </a:pPr>
            <a:r>
              <a:rPr lang="en-US" sz="1800" b="1" dirty="0">
                <a:solidFill>
                  <a:schemeClr val="tx2"/>
                </a:solidFill>
              </a:rPr>
              <a:t>Rentrée et Yennayer</a:t>
            </a:r>
            <a:endParaRPr lang="en-US" sz="1800" dirty="0"/>
          </a:p>
        </p:txBody>
      </p:sp>
      <p:sp>
        <p:nvSpPr>
          <p:cNvPr id="20" name="Text 15"/>
          <p:cNvSpPr txBox="1"/>
          <p:nvPr/>
        </p:nvSpPr>
        <p:spPr>
          <a:xfrm>
            <a:off x="6446520" y="3474720"/>
            <a:ext cx="2103120" cy="2286000"/>
          </a:xfrm>
          <a:prstGeom prst="rect">
            <a:avLst/>
          </a:prstGeom>
          <a:noFill/>
          <a:ln/>
        </p:spPr>
        <p:txBody>
          <a:bodyPr wrap="square" lIns="0" tIns="0" rIns="0" bIns="0" rtlCol="0" anchor="t"/>
          <a:lstStyle/>
          <a:p>
            <a:pPr indent="0" marL="0">
              <a:buNone/>
            </a:pPr>
            <a:r>
              <a:rPr lang="en-US" sz="1400" dirty="0">
                <a:solidFill>
                  <a:schemeClr val="tx1"/>
                </a:solidFill>
              </a:rPr>
              <a:t>Bonnes résolutions : offres healthy. Nouvel An amazigh (14/01) : sélection de plats régionaux. Tournage des créatifs Ramadan.</a:t>
            </a:r>
            <a:endParaRPr lang="en-US" sz="1400" dirty="0"/>
          </a:p>
        </p:txBody>
      </p:sp>
      <p:sp>
        <p:nvSpPr>
          <p:cNvPr id="21" name="Text 16"/>
          <p:cNvSpPr txBox="1"/>
          <p:nvPr/>
        </p:nvSpPr>
        <p:spPr>
          <a:xfrm>
            <a:off x="8983980" y="1371600"/>
            <a:ext cx="2606040" cy="365760"/>
          </a:xfrm>
          <a:prstGeom prst="rect">
            <a:avLst/>
          </a:prstGeom>
          <a:noFill/>
          <a:ln/>
        </p:spPr>
        <p:txBody>
          <a:bodyPr wrap="square" lIns="0" tIns="0" rIns="0" bIns="0" rtlCol="0" anchor="t"/>
          <a:lstStyle/>
          <a:p>
            <a:pPr indent="0" marL="0">
              <a:buNone/>
            </a:pPr>
            <a:r>
              <a:rPr lang="en-US" sz="1600" b="1" dirty="0">
                <a:solidFill>
                  <a:schemeClr val="accent5"/>
                </a:solidFill>
              </a:rPr>
              <a:t>Février</a:t>
            </a:r>
            <a:endParaRPr lang="en-US" sz="1600" dirty="0"/>
          </a:p>
        </p:txBody>
      </p:sp>
      <p:sp>
        <p:nvSpPr>
          <p:cNvPr id="22" name="Février"/>
          <p:cNvSpPr/>
          <p:nvPr/>
        </p:nvSpPr>
        <p:spPr>
          <a:xfrm>
            <a:off x="8983980" y="1783080"/>
            <a:ext cx="2606040" cy="4114800"/>
          </a:xfrm>
          <a:prstGeom prst="roundRect">
            <a:avLst>
              <a:gd name="adj" fmla="val 4211"/>
            </a:avLst>
          </a:prstGeom>
          <a:solidFill>
            <a:schemeClr val="bg2"/>
          </a:solidFill>
          <a:ln/>
        </p:spPr>
      </p:sp>
      <p:sp>
        <p:nvSpPr>
          <p:cNvPr id="23" name="Ramadan (≈ 8-9/02) circle"/>
          <p:cNvSpPr/>
          <p:nvPr/>
        </p:nvSpPr>
        <p:spPr>
          <a:xfrm>
            <a:off x="9258300" y="2011680"/>
            <a:ext cx="594360" cy="594360"/>
          </a:xfrm>
          <a:prstGeom prst="ellipse">
            <a:avLst/>
          </a:prstGeom>
          <a:solidFill>
            <a:schemeClr val="accent4"/>
          </a:solidFill>
          <a:ln/>
        </p:spPr>
      </p:sp>
      <p:pic>
        <p:nvPicPr>
          <p:cNvPr id="24" name="Ramadan (≈ 8-9/02) icon" descr="Ramadan (≈ 8-9/02)">    </p:cNvPr>
          <p:cNvPicPr>
            <a:picLocks noChangeAspect="1"/>
          </p:cNvPicPr>
          <p:nvPr/>
        </p:nvPicPr>
        <p:blipFill>
          <a:blip r:embed="rId4"/>
          <a:stretch>
            <a:fillRect/>
          </a:stretch>
        </p:blipFill>
        <p:spPr>
          <a:xfrm>
            <a:off x="9412834" y="2166214"/>
            <a:ext cx="285293" cy="285293"/>
          </a:xfrm>
          <a:prstGeom prst="rect">
            <a:avLst/>
          </a:prstGeom>
        </p:spPr>
      </p:pic>
      <p:sp>
        <p:nvSpPr>
          <p:cNvPr id="25" name="Text 19"/>
          <p:cNvSpPr txBox="1"/>
          <p:nvPr/>
        </p:nvSpPr>
        <p:spPr>
          <a:xfrm>
            <a:off x="9258300" y="2743200"/>
            <a:ext cx="2103120" cy="685800"/>
          </a:xfrm>
          <a:prstGeom prst="rect">
            <a:avLst/>
          </a:prstGeom>
          <a:noFill/>
          <a:ln/>
        </p:spPr>
        <p:txBody>
          <a:bodyPr wrap="square" lIns="0" tIns="0" rIns="0" bIns="0" rtlCol="0" anchor="t"/>
          <a:lstStyle/>
          <a:p>
            <a:pPr indent="0" marL="0">
              <a:buNone/>
            </a:pPr>
            <a:r>
              <a:rPr lang="en-US" sz="1800" b="1" dirty="0">
                <a:solidFill>
                  <a:schemeClr val="tx2"/>
                </a:solidFill>
              </a:rPr>
              <a:t>Ramadan (≈ 8-9/02)</a:t>
            </a:r>
            <a:endParaRPr lang="en-US" sz="1800" dirty="0"/>
          </a:p>
        </p:txBody>
      </p:sp>
      <p:sp>
        <p:nvSpPr>
          <p:cNvPr id="26" name="Text 20"/>
          <p:cNvSpPr txBox="1"/>
          <p:nvPr/>
        </p:nvSpPr>
        <p:spPr>
          <a:xfrm>
            <a:off x="9258300" y="3474720"/>
            <a:ext cx="2103120" cy="2286000"/>
          </a:xfrm>
          <a:prstGeom prst="rect">
            <a:avLst/>
          </a:prstGeom>
          <a:noFill/>
          <a:ln/>
        </p:spPr>
        <p:txBody>
          <a:bodyPr wrap="square" lIns="0" tIns="0" rIns="0" bIns="0" rtlCol="0" anchor="t"/>
          <a:lstStyle/>
          <a:p>
            <a:pPr indent="0" marL="0">
              <a:buNone/>
            </a:pPr>
            <a:r>
              <a:rPr lang="en-US" sz="1400" dirty="0">
                <a:solidFill>
                  <a:schemeClr val="tx1"/>
                </a:solidFill>
              </a:rPr>
              <a:t>Le temps fort de l'année : ftour et shour livrés, courses avant la rupture du jeûne. Campagnes prêtes dès fin janvier.</a:t>
            </a:r>
            <a:endParaRPr lang="en-US" sz="1400" dirty="0"/>
          </a:p>
        </p:txBody>
      </p:sp>
      <p:sp>
        <p:nvSpPr>
          <p:cNvPr id="27" name="Text 21"/>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chemeClr val="accent5"/>
                </a:solidFill>
              </a:rPr>
              <a:t>Date de début du Ramadan 1448 estimée : à confirmer selon l'annonce officielle au Maroc.</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Black Friday et Ramadan, semaine par semaine</a:t>
            </a:r>
            <a:endParaRPr lang="en-US" sz="3600" dirty="0"/>
          </a:p>
        </p:txBody>
      </p:sp>
      <p:sp>
        <p:nvSpPr>
          <p:cNvPr id="3" name="Black Friday (novembre : 50 000 DH) circle"/>
          <p:cNvSpPr/>
          <p:nvPr/>
        </p:nvSpPr>
        <p:spPr>
          <a:xfrm>
            <a:off x="548640" y="1371600"/>
            <a:ext cx="502920" cy="502920"/>
          </a:xfrm>
          <a:prstGeom prst="ellipse">
            <a:avLst/>
          </a:prstGeom>
          <a:solidFill>
            <a:schemeClr val="accent1"/>
          </a:solidFill>
          <a:ln/>
        </p:spPr>
      </p:sp>
      <p:pic>
        <p:nvPicPr>
          <p:cNvPr id="4" name="Black Friday (novembre : 50 000 DH) icon" descr="Black Friday (novembre : 50 000 DH)">    </p:cNvPr>
          <p:cNvPicPr>
            <a:picLocks noChangeAspect="1"/>
          </p:cNvPicPr>
          <p:nvPr/>
        </p:nvPicPr>
        <p:blipFill>
          <a:blip r:embed="rId1"/>
          <a:stretch>
            <a:fillRect/>
          </a:stretch>
        </p:blipFill>
        <p:spPr>
          <a:xfrm>
            <a:off x="679399" y="1502359"/>
            <a:ext cx="241402" cy="241402"/>
          </a:xfrm>
          <a:prstGeom prst="rect">
            <a:avLst/>
          </a:prstGeom>
        </p:spPr>
      </p:pic>
      <p:sp>
        <p:nvSpPr>
          <p:cNvPr id="5" name="Text 2"/>
          <p:cNvSpPr txBox="1"/>
          <p:nvPr/>
        </p:nvSpPr>
        <p:spPr>
          <a:xfrm>
            <a:off x="1188720" y="1371600"/>
            <a:ext cx="4663440" cy="502920"/>
          </a:xfrm>
          <a:prstGeom prst="rect">
            <a:avLst/>
          </a:prstGeom>
          <a:noFill/>
          <a:ln/>
        </p:spPr>
        <p:txBody>
          <a:bodyPr wrap="square" lIns="0" tIns="0" rIns="0" bIns="0" rtlCol="0" anchor="ctr"/>
          <a:lstStyle/>
          <a:p>
            <a:pPr indent="0" marL="0">
              <a:buNone/>
            </a:pPr>
            <a:r>
              <a:rPr lang="en-US" sz="1800" b="1" dirty="0">
                <a:solidFill>
                  <a:schemeClr val="tx2"/>
                </a:solidFill>
              </a:rPr>
              <a:t>Black Friday (novembre : 50 000 DH)</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94960" cy="914400"/>
        </p:xfrm>
        <a:graphic>
          <a:graphicData uri="http://schemas.openxmlformats.org/drawingml/2006/table">
            <a:tbl>
              <a:tblPr/>
              <a:tblGrid>
                <a:gridCol w="1417320"/>
                <a:gridCol w="2880360"/>
                <a:gridCol w="1097280"/>
              </a:tblGrid>
              <a:tr h="566928">
                <a:tc>
                  <a:txBody>
                    <a:bodyPr/>
                    <a:lstStyle/>
                    <a:p>
                      <a:pPr indent="0" marL="0">
                        <a:buNone/>
                      </a:pPr>
                      <a:r>
                        <a:rPr lang="en-US" sz="1300" b="1" dirty="0">
                          <a:solidFill>
                            <a:schemeClr val="bg1"/>
                          </a:solidFill>
                        </a:rPr>
                        <a:t>Période</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Action</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Budget</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r>
              <a:tr h="566928">
                <a:tc>
                  <a:txBody>
                    <a:bodyPr/>
                    <a:lstStyle/>
                    <a:p>
                      <a:pPr indent="0" marL="0">
                        <a:buNone/>
                      </a:pPr>
                      <a:r>
                        <a:rPr lang="en-US" sz="1300" dirty="0">
                          <a:solidFill>
                            <a:schemeClr val="tx1"/>
                          </a:solidFill>
                        </a:rPr>
                        <a:t>2-15 nov.</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Tournage des vidéos créateurs, accords de cofinancement restaurants</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8 000 DH</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300" dirty="0">
                          <a:solidFill>
                            <a:schemeClr val="tx1"/>
                          </a:solidFill>
                        </a:rPr>
                        <a:t>16-22 nov.</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Teasing, constitution des audiences de reciblage</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10 000 DH</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300" dirty="0">
                          <a:solidFill>
                            <a:schemeClr val="tx1"/>
                          </a:solidFill>
                        </a:rPr>
                        <a:t>23-29 nov.</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Yassir Friday : pic des ads et des notifications</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25 000 DH</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300" dirty="0">
                          <a:solidFill>
                            <a:schemeClr val="tx1"/>
                          </a:solidFill>
                        </a:rPr>
                        <a:t>Fin nov.</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Relance des nouveaux clients pour une 2e commande</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7 000 DH</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bl>
          </a:graphicData>
        </a:graphic>
      </p:graphicFrame>
      <p:sp>
        <p:nvSpPr>
          <p:cNvPr id="7" name="Ramadan (février : 70 000 DH) circle"/>
          <p:cNvSpPr/>
          <p:nvPr/>
        </p:nvSpPr>
        <p:spPr>
          <a:xfrm>
            <a:off x="6217920" y="1371600"/>
            <a:ext cx="502920" cy="502920"/>
          </a:xfrm>
          <a:prstGeom prst="ellipse">
            <a:avLst/>
          </a:prstGeom>
          <a:solidFill>
            <a:schemeClr val="accent1"/>
          </a:solidFill>
          <a:ln/>
        </p:spPr>
      </p:sp>
      <p:pic>
        <p:nvPicPr>
          <p:cNvPr id="8" name="Ramadan (février : 70 000 DH) icon" descr="Ramadan (février : 70 000 DH)">    </p:cNvPr>
          <p:cNvPicPr>
            <a:picLocks noChangeAspect="1"/>
          </p:cNvPicPr>
          <p:nvPr/>
        </p:nvPicPr>
        <p:blipFill>
          <a:blip r:embed="rId2"/>
          <a:stretch>
            <a:fillRect/>
          </a:stretch>
        </p:blipFill>
        <p:spPr>
          <a:xfrm>
            <a:off x="6348679" y="1502359"/>
            <a:ext cx="241402" cy="241402"/>
          </a:xfrm>
          <a:prstGeom prst="rect">
            <a:avLst/>
          </a:prstGeom>
        </p:spPr>
      </p:pic>
      <p:sp>
        <p:nvSpPr>
          <p:cNvPr id="9" name="Text 4"/>
          <p:cNvSpPr txBox="1"/>
          <p:nvPr/>
        </p:nvSpPr>
        <p:spPr>
          <a:xfrm>
            <a:off x="6858000" y="1371600"/>
            <a:ext cx="4663440" cy="502920"/>
          </a:xfrm>
          <a:prstGeom prst="rect">
            <a:avLst/>
          </a:prstGeom>
          <a:noFill/>
          <a:ln/>
        </p:spPr>
        <p:txBody>
          <a:bodyPr wrap="square" lIns="0" tIns="0" rIns="0" bIns="0" rtlCol="0" anchor="ctr"/>
          <a:lstStyle/>
          <a:p>
            <a:pPr indent="0" marL="0">
              <a:buNone/>
            </a:pPr>
            <a:r>
              <a:rPr lang="en-US" sz="1800" b="1" dirty="0">
                <a:solidFill>
                  <a:schemeClr val="tx2"/>
                </a:solidFill>
              </a:rPr>
              <a:t>Ramadan (février : 70 000 DH)</a:t>
            </a:r>
            <a:endParaRPr lang="en-US" sz="18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17920" y="2011680"/>
          <a:ext cx="5394960" cy="914400"/>
        </p:xfrm>
        <a:graphic>
          <a:graphicData uri="http://schemas.openxmlformats.org/drawingml/2006/table">
            <a:tbl>
              <a:tblPr/>
              <a:tblGrid>
                <a:gridCol w="1417320"/>
                <a:gridCol w="2880360"/>
                <a:gridCol w="1097280"/>
              </a:tblGrid>
              <a:tr h="566928">
                <a:tc>
                  <a:txBody>
                    <a:bodyPr/>
                    <a:lstStyle/>
                    <a:p>
                      <a:pPr indent="0" marL="0">
                        <a:buNone/>
                      </a:pPr>
                      <a:r>
                        <a:rPr lang="en-US" sz="1300" b="1" dirty="0">
                          <a:solidFill>
                            <a:schemeClr val="bg1"/>
                          </a:solidFill>
                        </a:rPr>
                        <a:t>Période</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Action</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Budget</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solidFill>
                      <a:schemeClr val="tx2"/>
                    </a:solidFill>
                  </a:tcPr>
                </a:tc>
              </a:tr>
              <a:tr h="566928">
                <a:tc>
                  <a:txBody>
                    <a:bodyPr/>
                    <a:lstStyle/>
                    <a:p>
                      <a:pPr indent="0" marL="0">
                        <a:buNone/>
                      </a:pPr>
                      <a:r>
                        <a:rPr lang="en-US" sz="1300" dirty="0">
                          <a:solidFill>
                            <a:schemeClr val="tx1"/>
                          </a:solidFill>
                        </a:rPr>
                        <a:t>18-31 janv.</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Tournage et validation des créatifs (sur le budget de janvier)</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inclus</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300" dirty="0">
                          <a:solidFill>
                            <a:schemeClr val="tx1"/>
                          </a:solidFill>
                        </a:rPr>
                        <a:t>1-7 févr.</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 Préparez votre ftour » : teasing et courses</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10 000 DH</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300" dirty="0">
                          <a:solidFill>
                            <a:schemeClr val="tx1"/>
                          </a:solidFill>
                        </a:rPr>
                        <a:t>8-21 févr.</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Pic : ftour et shour livrés</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35 000 DH</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r h="566928">
                <a:tc>
                  <a:txBody>
                    <a:bodyPr/>
                    <a:lstStyle/>
                    <a:p>
                      <a:pPr indent="0" marL="0">
                        <a:buNone/>
                      </a:pPr>
                      <a:r>
                        <a:rPr lang="en-US" sz="1300" dirty="0">
                          <a:solidFill>
                            <a:schemeClr val="tx1"/>
                          </a:solidFill>
                        </a:rPr>
                        <a:t>22-28 févr.</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Maintien et relance des nouveaux clients</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c>
                  <a:txBody>
                    <a:bodyPr/>
                    <a:lstStyle/>
                    <a:p>
                      <a:pPr indent="0" marL="0">
                        <a:buNone/>
                      </a:pPr>
                      <a:r>
                        <a:rPr lang="en-US" sz="1300" dirty="0">
                          <a:solidFill>
                            <a:schemeClr val="tx1"/>
                          </a:solidFill>
                        </a:rPr>
                        <a:t>25 000 DH</a:t>
                      </a:r>
                      <a:endParaRPr lang="en-US" sz="1300" dirty="0"/>
                    </a:p>
                  </a:txBody>
                  <a:tcPr marL="73152" marR="73152" marT="0" marB="0" anchor="ctr">
                    <a:lnL w="9525" cap="flat" cmpd="sng" algn="ctr">
                      <a:solidFill>
                        <a:srgbClr val="C9B8F5"/>
                      </a:solidFill>
                      <a:prstDash val="solid"/>
                      <a:round/>
                      <a:headEnd type="none" w="med" len="med"/>
                      <a:tailEnd type="none" w="med" len="med"/>
                    </a:lnL>
                    <a:lnR w="9525" cap="flat" cmpd="sng" algn="ctr">
                      <a:solidFill>
                        <a:srgbClr val="C9B8F5"/>
                      </a:solidFill>
                      <a:prstDash val="solid"/>
                      <a:round/>
                      <a:headEnd type="none" w="med" len="med"/>
                      <a:tailEnd type="none" w="med" len="med"/>
                    </a:lnR>
                    <a:lnT w="9525" cap="flat" cmpd="sng" algn="ctr">
                      <a:solidFill>
                        <a:srgbClr val="C9B8F5"/>
                      </a:solidFill>
                      <a:prstDash val="solid"/>
                      <a:round/>
                      <a:headEnd type="none" w="med" len="med"/>
                      <a:tailEnd type="none" w="med" len="med"/>
                    </a:lnT>
                    <a:lnB w="9525" cap="flat" cmpd="sng" algn="ctr">
                      <a:solidFill>
                        <a:srgbClr val="C9B8F5"/>
                      </a:solidFill>
                      <a:prstDash val="solid"/>
                      <a:round/>
                      <a:headEnd type="none" w="med" len="med"/>
                      <a:tailEnd type="none" w="med" len="med"/>
                    </a:lnB>
                  </a:tcPr>
                </a:tc>
              </a:tr>
            </a:tbl>
          </a:graphicData>
        </a:graphic>
      </p:graphicFrame>
      <p:sp>
        <p:nvSpPr>
          <p:cNvPr id="11" name="Text 5"/>
          <p:cNvSpPr txBox="1"/>
          <p:nvPr/>
        </p:nvSpPr>
        <p:spPr>
          <a:xfrm>
            <a:off x="548640" y="5120640"/>
            <a:ext cx="11064240" cy="320040"/>
          </a:xfrm>
          <a:prstGeom prst="rect">
            <a:avLst/>
          </a:prstGeom>
          <a:noFill/>
          <a:ln/>
        </p:spPr>
        <p:txBody>
          <a:bodyPr wrap="square" lIns="0" tIns="0" rIns="0" bIns="0" rtlCol="0" anchor="t"/>
          <a:lstStyle/>
          <a:p>
            <a:pPr indent="0" marL="0">
              <a:buNone/>
            </a:pPr>
            <a:r>
              <a:rPr lang="en-US" sz="1200" b="1" dirty="0">
                <a:solidFill>
                  <a:schemeClr val="accent4"/>
                </a:solidFill>
              </a:rPr>
              <a:t>Ramadan estimé du 8-9 février à début mars : la dernière semaine n'est pas couverte par les 200 000 DH.</a:t>
            </a:r>
            <a:endParaRPr lang="en-US" sz="1200" dirty="0"/>
          </a:p>
        </p:txBody>
      </p:sp>
      <p:sp>
        <p:nvSpPr>
          <p:cNvPr id="12" name="Text 6"/>
          <p:cNvSpPr txBox="1"/>
          <p:nvPr/>
        </p:nvSpPr>
        <p:spPr>
          <a:xfrm>
            <a:off x="548640" y="5486400"/>
            <a:ext cx="11064240" cy="274320"/>
          </a:xfrm>
          <a:prstGeom prst="rect">
            <a:avLst/>
          </a:prstGeom>
          <a:noFill/>
          <a:ln/>
        </p:spPr>
        <p:txBody>
          <a:bodyPr wrap="square" lIns="0" tIns="0" rIns="0" bIns="0" rtlCol="0" anchor="t"/>
          <a:lstStyle/>
          <a:p>
            <a:pPr indent="0" marL="0">
              <a:buNone/>
            </a:pPr>
            <a:r>
              <a:rPr lang="en-US" sz="1100" dirty="0">
                <a:solidFill>
                  <a:schemeClr val="accent5"/>
                </a:solidFill>
              </a:rPr>
              <a:t>Montants tous postes confondus (média, codes promo, influence, CRM).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CRM : faire revenir les clients</a:t>
            </a:r>
            <a:endParaRPr lang="en-US" sz="3600" dirty="0"/>
          </a:p>
        </p:txBody>
      </p:sp>
      <p:sp>
        <p:nvSpPr>
          <p:cNvPr id="3" name="Parrainage"/>
          <p:cNvSpPr/>
          <p:nvPr/>
        </p:nvSpPr>
        <p:spPr>
          <a:xfrm>
            <a:off x="548640" y="1417320"/>
            <a:ext cx="5417820" cy="2194560"/>
          </a:xfrm>
          <a:prstGeom prst="roundRect">
            <a:avLst>
              <a:gd name="adj" fmla="val 5000"/>
            </a:avLst>
          </a:prstGeom>
          <a:solidFill>
            <a:schemeClr val="bg2"/>
          </a:solidFill>
          <a:ln/>
        </p:spPr>
      </p:sp>
      <p:sp>
        <p:nvSpPr>
          <p:cNvPr id="4" name="Parrainage circle"/>
          <p:cNvSpPr/>
          <p:nvPr/>
        </p:nvSpPr>
        <p:spPr>
          <a:xfrm>
            <a:off x="822960" y="1691640"/>
            <a:ext cx="548640" cy="548640"/>
          </a:xfrm>
          <a:prstGeom prst="ellipse">
            <a:avLst/>
          </a:prstGeom>
          <a:solidFill>
            <a:schemeClr val="accent2"/>
          </a:solidFill>
          <a:ln/>
        </p:spPr>
      </p:sp>
      <p:pic>
        <p:nvPicPr>
          <p:cNvPr id="5" name="Parrainage icon" descr="Parrainage">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0876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Parrainage</a:t>
            </a:r>
            <a:endParaRPr lang="en-US" sz="1700" dirty="0"/>
          </a:p>
        </p:txBody>
      </p:sp>
      <p:sp>
        <p:nvSpPr>
          <p:cNvPr id="7" name="Text 4"/>
          <p:cNvSpPr txBox="1"/>
          <p:nvPr/>
        </p:nvSpPr>
        <p:spPr>
          <a:xfrm>
            <a:off x="82296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Un code par client : une réduction pour le parrain et pour le filleul. Le canal d'acquisition le moins cher à mettre en place.</a:t>
            </a:r>
            <a:endParaRPr lang="en-US" sz="1400" dirty="0"/>
          </a:p>
        </p:txBody>
      </p:sp>
      <p:sp>
        <p:nvSpPr>
          <p:cNvPr id="8" name="Relance des inactifs"/>
          <p:cNvSpPr/>
          <p:nvPr/>
        </p:nvSpPr>
        <p:spPr>
          <a:xfrm>
            <a:off x="6195060" y="1417320"/>
            <a:ext cx="5417820" cy="2194560"/>
          </a:xfrm>
          <a:prstGeom prst="roundRect">
            <a:avLst>
              <a:gd name="adj" fmla="val 5000"/>
            </a:avLst>
          </a:prstGeom>
          <a:solidFill>
            <a:schemeClr val="bg2"/>
          </a:solidFill>
          <a:ln/>
        </p:spPr>
      </p:sp>
      <p:sp>
        <p:nvSpPr>
          <p:cNvPr id="9" name="Relance des inactifs circle"/>
          <p:cNvSpPr/>
          <p:nvPr/>
        </p:nvSpPr>
        <p:spPr>
          <a:xfrm>
            <a:off x="6469380" y="1691640"/>
            <a:ext cx="548640" cy="548640"/>
          </a:xfrm>
          <a:prstGeom prst="ellipse">
            <a:avLst/>
          </a:prstGeom>
          <a:solidFill>
            <a:schemeClr val="accent2"/>
          </a:solidFill>
          <a:ln/>
        </p:spPr>
      </p:sp>
      <p:pic>
        <p:nvPicPr>
          <p:cNvPr id="10" name="Relance des inactifs icon" descr="Relance des inactifs">    </p:cNvPr>
          <p:cNvPicPr>
            <a:picLocks noChangeAspect="1"/>
          </p:cNvPicPr>
          <p:nvPr/>
        </p:nvPicPr>
        <p:blipFill>
          <a:blip r:embed="rId2"/>
          <a:stretch>
            <a:fillRect/>
          </a:stretch>
        </p:blipFill>
        <p:spPr>
          <a:xfrm>
            <a:off x="6612026" y="1834286"/>
            <a:ext cx="263347" cy="263347"/>
          </a:xfrm>
          <a:prstGeom prst="rect">
            <a:avLst/>
          </a:prstGeom>
        </p:spPr>
      </p:pic>
      <p:sp>
        <p:nvSpPr>
          <p:cNvPr id="11" name="Text 7"/>
          <p:cNvSpPr txBox="1"/>
          <p:nvPr/>
        </p:nvSpPr>
        <p:spPr>
          <a:xfrm>
            <a:off x="7155180" y="164592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Relance des inactifs</a:t>
            </a:r>
            <a:endParaRPr lang="en-US" sz="1700" dirty="0"/>
          </a:p>
        </p:txBody>
      </p:sp>
      <p:sp>
        <p:nvSpPr>
          <p:cNvPr id="12" name="Text 8"/>
          <p:cNvSpPr txBox="1"/>
          <p:nvPr/>
        </p:nvSpPr>
        <p:spPr>
          <a:xfrm>
            <a:off x="6469380" y="2377440"/>
            <a:ext cx="4869180" cy="1097280"/>
          </a:xfrm>
          <a:prstGeom prst="rect">
            <a:avLst/>
          </a:prstGeom>
          <a:noFill/>
          <a:ln/>
        </p:spPr>
        <p:txBody>
          <a:bodyPr wrap="square" lIns="0" tIns="0" rIns="0" bIns="0" rtlCol="0" anchor="t"/>
          <a:lstStyle/>
          <a:p>
            <a:pPr indent="0" marL="0">
              <a:buNone/>
            </a:pPr>
            <a:r>
              <a:rPr lang="en-US" sz="1400" dirty="0">
                <a:solidFill>
                  <a:schemeClr val="tx1"/>
                </a:solidFill>
              </a:rPr>
              <a:t>Notification ou SMS à J+14 et J+30 sans commande, avec une offre progressive. Mesurer contre un groupe témoin sans relance.</a:t>
            </a:r>
            <a:endParaRPr lang="en-US" sz="1400" dirty="0"/>
          </a:p>
        </p:txBody>
      </p:sp>
      <p:sp>
        <p:nvSpPr>
          <p:cNvPr id="13" name="WhatsApp Business"/>
          <p:cNvSpPr/>
          <p:nvPr/>
        </p:nvSpPr>
        <p:spPr>
          <a:xfrm>
            <a:off x="548640" y="3840480"/>
            <a:ext cx="5417820" cy="2194560"/>
          </a:xfrm>
          <a:prstGeom prst="roundRect">
            <a:avLst>
              <a:gd name="adj" fmla="val 5000"/>
            </a:avLst>
          </a:prstGeom>
          <a:solidFill>
            <a:schemeClr val="bg2"/>
          </a:solidFill>
          <a:ln/>
        </p:spPr>
      </p:sp>
      <p:sp>
        <p:nvSpPr>
          <p:cNvPr id="14" name="WhatsApp Business circle"/>
          <p:cNvSpPr/>
          <p:nvPr/>
        </p:nvSpPr>
        <p:spPr>
          <a:xfrm>
            <a:off x="822960" y="4114800"/>
            <a:ext cx="548640" cy="548640"/>
          </a:xfrm>
          <a:prstGeom prst="ellipse">
            <a:avLst/>
          </a:prstGeom>
          <a:solidFill>
            <a:schemeClr val="accent2"/>
          </a:solidFill>
          <a:ln/>
        </p:spPr>
      </p:sp>
      <p:pic>
        <p:nvPicPr>
          <p:cNvPr id="15" name="WhatsApp Business icon" descr="WhatsApp Business">    </p:cNvPr>
          <p:cNvPicPr>
            <a:picLocks noChangeAspect="1"/>
          </p:cNvPicPr>
          <p:nvPr/>
        </p:nvPicPr>
        <p:blipFill>
          <a:blip r:embed="rId3"/>
          <a:stretch>
            <a:fillRect/>
          </a:stretch>
        </p:blipFill>
        <p:spPr>
          <a:xfrm>
            <a:off x="965606" y="4257446"/>
            <a:ext cx="263347" cy="263347"/>
          </a:xfrm>
          <a:prstGeom prst="rect">
            <a:avLst/>
          </a:prstGeom>
        </p:spPr>
      </p:pic>
      <p:sp>
        <p:nvSpPr>
          <p:cNvPr id="16" name="Text 11"/>
          <p:cNvSpPr txBox="1"/>
          <p:nvPr/>
        </p:nvSpPr>
        <p:spPr>
          <a:xfrm>
            <a:off x="150876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WhatsApp Business</a:t>
            </a:r>
            <a:endParaRPr lang="en-US" sz="1700" dirty="0"/>
          </a:p>
        </p:txBody>
      </p:sp>
      <p:sp>
        <p:nvSpPr>
          <p:cNvPr id="17" name="Text 12"/>
          <p:cNvSpPr txBox="1"/>
          <p:nvPr/>
        </p:nvSpPr>
        <p:spPr>
          <a:xfrm>
            <a:off x="82296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Canal le plus utilisé au Maroc : suivi de commande, offres ciblées sur abonnement, service client.</a:t>
            </a:r>
            <a:endParaRPr lang="en-US" sz="1400" dirty="0"/>
          </a:p>
        </p:txBody>
      </p:sp>
      <p:sp>
        <p:nvSpPr>
          <p:cNvPr id="18" name="Passer de Ride à Food"/>
          <p:cNvSpPr/>
          <p:nvPr/>
        </p:nvSpPr>
        <p:spPr>
          <a:xfrm>
            <a:off x="6195060" y="3840480"/>
            <a:ext cx="5417820" cy="2194560"/>
          </a:xfrm>
          <a:prstGeom prst="roundRect">
            <a:avLst>
              <a:gd name="adj" fmla="val 5000"/>
            </a:avLst>
          </a:prstGeom>
          <a:solidFill>
            <a:schemeClr val="bg2"/>
          </a:solidFill>
          <a:ln/>
        </p:spPr>
      </p:sp>
      <p:sp>
        <p:nvSpPr>
          <p:cNvPr id="19" name="Passer de Ride à Food circle"/>
          <p:cNvSpPr/>
          <p:nvPr/>
        </p:nvSpPr>
        <p:spPr>
          <a:xfrm>
            <a:off x="6469380" y="4114800"/>
            <a:ext cx="548640" cy="548640"/>
          </a:xfrm>
          <a:prstGeom prst="ellipse">
            <a:avLst/>
          </a:prstGeom>
          <a:solidFill>
            <a:schemeClr val="accent2"/>
          </a:solidFill>
          <a:ln/>
        </p:spPr>
      </p:sp>
      <p:pic>
        <p:nvPicPr>
          <p:cNvPr id="20" name="Passer de Ride à Food icon" descr="Passer de Ride à Food">    </p:cNvPr>
          <p:cNvPicPr>
            <a:picLocks noChangeAspect="1"/>
          </p:cNvPicPr>
          <p:nvPr/>
        </p:nvPicPr>
        <p:blipFill>
          <a:blip r:embed="rId4"/>
          <a:stretch>
            <a:fillRect/>
          </a:stretch>
        </p:blipFill>
        <p:spPr>
          <a:xfrm>
            <a:off x="6612026" y="4257446"/>
            <a:ext cx="263347" cy="263347"/>
          </a:xfrm>
          <a:prstGeom prst="rect">
            <a:avLst/>
          </a:prstGeom>
        </p:spPr>
      </p:pic>
      <p:sp>
        <p:nvSpPr>
          <p:cNvPr id="21" name="Text 15"/>
          <p:cNvSpPr txBox="1"/>
          <p:nvPr/>
        </p:nvSpPr>
        <p:spPr>
          <a:xfrm>
            <a:off x="7155180" y="4069080"/>
            <a:ext cx="4229100" cy="640080"/>
          </a:xfrm>
          <a:prstGeom prst="rect">
            <a:avLst/>
          </a:prstGeom>
          <a:noFill/>
          <a:ln/>
        </p:spPr>
        <p:txBody>
          <a:bodyPr wrap="square" lIns="0" tIns="0" rIns="0" bIns="0" rtlCol="0" anchor="ctr"/>
          <a:lstStyle/>
          <a:p>
            <a:pPr indent="0" marL="0">
              <a:buNone/>
            </a:pPr>
            <a:r>
              <a:rPr lang="en-US" sz="1700" b="1" dirty="0">
                <a:solidFill>
                  <a:schemeClr val="tx2"/>
                </a:solidFill>
              </a:rPr>
              <a:t>Passer de Ride à Food</a:t>
            </a:r>
            <a:endParaRPr lang="en-US" sz="1700" dirty="0"/>
          </a:p>
        </p:txBody>
      </p:sp>
      <p:sp>
        <p:nvSpPr>
          <p:cNvPr id="22" name="Text 16"/>
          <p:cNvSpPr txBox="1"/>
          <p:nvPr/>
        </p:nvSpPr>
        <p:spPr>
          <a:xfrm>
            <a:off x="6469380" y="4800600"/>
            <a:ext cx="4869180" cy="1097280"/>
          </a:xfrm>
          <a:prstGeom prst="rect">
            <a:avLst/>
          </a:prstGeom>
          <a:noFill/>
          <a:ln/>
        </p:spPr>
        <p:txBody>
          <a:bodyPr wrap="square" lIns="0" tIns="0" rIns="0" bIns="0" rtlCol="0" anchor="t"/>
          <a:lstStyle/>
          <a:p>
            <a:pPr indent="0" marL="0">
              <a:buNone/>
            </a:pPr>
            <a:r>
              <a:rPr lang="en-US" sz="1400" dirty="0">
                <a:solidFill>
                  <a:schemeClr val="tx1"/>
                </a:solidFill>
              </a:rPr>
              <a:t>Proposer Food aux clients Ride et inversement : un client multi-services commande plus souvent et reste plus longtemps.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Influence et communauté</a:t>
            </a:r>
            <a:endParaRPr lang="en-US" sz="3600" dirty="0"/>
          </a:p>
        </p:txBody>
      </p:sp>
      <p:sp>
        <p:nvSpPr>
          <p:cNvPr id="3" name="Micro-influenceurs food"/>
          <p:cNvSpPr/>
          <p:nvPr/>
        </p:nvSpPr>
        <p:spPr>
          <a:xfrm>
            <a:off x="548640" y="1417320"/>
            <a:ext cx="3535680" cy="2743200"/>
          </a:xfrm>
          <a:prstGeom prst="roundRect">
            <a:avLst>
              <a:gd name="adj" fmla="val 4000"/>
            </a:avLst>
          </a:prstGeom>
          <a:solidFill>
            <a:schemeClr val="bg2"/>
          </a:solidFill>
          <a:ln/>
        </p:spPr>
      </p:sp>
      <p:sp>
        <p:nvSpPr>
          <p:cNvPr id="4" name="Micro-influenceurs food circle"/>
          <p:cNvSpPr/>
          <p:nvPr/>
        </p:nvSpPr>
        <p:spPr>
          <a:xfrm>
            <a:off x="822960" y="1691640"/>
            <a:ext cx="548640" cy="548640"/>
          </a:xfrm>
          <a:prstGeom prst="ellipse">
            <a:avLst/>
          </a:prstGeom>
          <a:solidFill>
            <a:schemeClr val="accent1"/>
          </a:solidFill>
          <a:ln/>
        </p:spPr>
      </p:sp>
      <p:pic>
        <p:nvPicPr>
          <p:cNvPr id="5" name="Micro-influenceurs food icon" descr="Micro-influenceurs food">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08760" y="1645920"/>
            <a:ext cx="2346960" cy="640080"/>
          </a:xfrm>
          <a:prstGeom prst="rect">
            <a:avLst/>
          </a:prstGeom>
          <a:noFill/>
          <a:ln/>
        </p:spPr>
        <p:txBody>
          <a:bodyPr wrap="square" lIns="0" tIns="0" rIns="0" bIns="0" rtlCol="0" anchor="ctr"/>
          <a:lstStyle/>
          <a:p>
            <a:pPr indent="0" marL="0">
              <a:buNone/>
            </a:pPr>
            <a:r>
              <a:rPr lang="en-US" sz="1700" b="1" dirty="0">
                <a:solidFill>
                  <a:schemeClr val="tx2"/>
                </a:solidFill>
              </a:rPr>
              <a:t>Micro-influenceurs food</a:t>
            </a:r>
            <a:endParaRPr lang="en-US" sz="1700" dirty="0"/>
          </a:p>
        </p:txBody>
      </p:sp>
      <p:sp>
        <p:nvSpPr>
          <p:cNvPr id="7" name="Text 4"/>
          <p:cNvSpPr txBox="1"/>
          <p:nvPr/>
        </p:nvSpPr>
        <p:spPr>
          <a:xfrm>
            <a:off x="822960" y="2377440"/>
            <a:ext cx="2987040" cy="1645920"/>
          </a:xfrm>
          <a:prstGeom prst="rect">
            <a:avLst/>
          </a:prstGeom>
          <a:noFill/>
          <a:ln/>
        </p:spPr>
        <p:txBody>
          <a:bodyPr wrap="square" lIns="0" tIns="0" rIns="0" bIns="0" rtlCol="0" anchor="t"/>
          <a:lstStyle/>
          <a:p>
            <a:pPr indent="0" marL="0">
              <a:buNone/>
            </a:pPr>
            <a:r>
              <a:rPr lang="en-US" sz="1400" dirty="0">
                <a:solidFill>
                  <a:schemeClr val="tx1"/>
                </a:solidFill>
              </a:rPr>
              <a:t>6 à 8 créateurs de 10K à 100K abonnés, d'abord à Casablanca, chacun avec son code promo pour mesurer les ventes.</a:t>
            </a:r>
            <a:endParaRPr lang="en-US" sz="1400" dirty="0"/>
          </a:p>
        </p:txBody>
      </p:sp>
      <p:sp>
        <p:nvSpPr>
          <p:cNvPr id="8" name="Contenus créateurs boostés"/>
          <p:cNvSpPr/>
          <p:nvPr/>
        </p:nvSpPr>
        <p:spPr>
          <a:xfrm>
            <a:off x="4312920" y="1417320"/>
            <a:ext cx="3535680" cy="2743200"/>
          </a:xfrm>
          <a:prstGeom prst="roundRect">
            <a:avLst>
              <a:gd name="adj" fmla="val 4000"/>
            </a:avLst>
          </a:prstGeom>
          <a:solidFill>
            <a:schemeClr val="bg2"/>
          </a:solidFill>
          <a:ln/>
        </p:spPr>
      </p:sp>
      <p:sp>
        <p:nvSpPr>
          <p:cNvPr id="9" name="Contenus créateurs boostés circle"/>
          <p:cNvSpPr/>
          <p:nvPr/>
        </p:nvSpPr>
        <p:spPr>
          <a:xfrm>
            <a:off x="4587240" y="1691640"/>
            <a:ext cx="548640" cy="548640"/>
          </a:xfrm>
          <a:prstGeom prst="ellipse">
            <a:avLst/>
          </a:prstGeom>
          <a:solidFill>
            <a:schemeClr val="accent1"/>
          </a:solidFill>
          <a:ln/>
        </p:spPr>
      </p:sp>
      <p:pic>
        <p:nvPicPr>
          <p:cNvPr id="10" name="Contenus créateurs boostés icon" descr="Contenus créateurs boostés">    </p:cNvPr>
          <p:cNvPicPr>
            <a:picLocks noChangeAspect="1"/>
          </p:cNvPicPr>
          <p:nvPr/>
        </p:nvPicPr>
        <p:blipFill>
          <a:blip r:embed="rId2"/>
          <a:stretch>
            <a:fillRect/>
          </a:stretch>
        </p:blipFill>
        <p:spPr>
          <a:xfrm>
            <a:off x="4729886" y="1834286"/>
            <a:ext cx="263347" cy="263347"/>
          </a:xfrm>
          <a:prstGeom prst="rect">
            <a:avLst/>
          </a:prstGeom>
        </p:spPr>
      </p:pic>
      <p:sp>
        <p:nvSpPr>
          <p:cNvPr id="11" name="Text 7"/>
          <p:cNvSpPr txBox="1"/>
          <p:nvPr/>
        </p:nvSpPr>
        <p:spPr>
          <a:xfrm>
            <a:off x="5273040" y="1645920"/>
            <a:ext cx="2346960" cy="640080"/>
          </a:xfrm>
          <a:prstGeom prst="rect">
            <a:avLst/>
          </a:prstGeom>
          <a:noFill/>
          <a:ln/>
        </p:spPr>
        <p:txBody>
          <a:bodyPr wrap="square" lIns="0" tIns="0" rIns="0" bIns="0" rtlCol="0" anchor="ctr"/>
          <a:lstStyle/>
          <a:p>
            <a:pPr indent="0" marL="0">
              <a:buNone/>
            </a:pPr>
            <a:r>
              <a:rPr lang="en-US" sz="1700" b="1" dirty="0">
                <a:solidFill>
                  <a:schemeClr val="tx2"/>
                </a:solidFill>
              </a:rPr>
              <a:t>Contenus créateurs boostés</a:t>
            </a:r>
            <a:endParaRPr lang="en-US" sz="1700" dirty="0"/>
          </a:p>
        </p:txBody>
      </p:sp>
      <p:sp>
        <p:nvSpPr>
          <p:cNvPr id="12" name="Text 8"/>
          <p:cNvSpPr txBox="1"/>
          <p:nvPr/>
        </p:nvSpPr>
        <p:spPr>
          <a:xfrm>
            <a:off x="4587240" y="2377440"/>
            <a:ext cx="2987040" cy="1645920"/>
          </a:xfrm>
          <a:prstGeom prst="rect">
            <a:avLst/>
          </a:prstGeom>
          <a:noFill/>
          <a:ln/>
        </p:spPr>
        <p:txBody>
          <a:bodyPr wrap="square" lIns="0" tIns="0" rIns="0" bIns="0" rtlCol="0" anchor="t"/>
          <a:lstStyle/>
          <a:p>
            <a:pPr indent="0" marL="0">
              <a:buNone/>
            </a:pPr>
            <a:r>
              <a:rPr lang="en-US" sz="1400" dirty="0">
                <a:solidFill>
                  <a:schemeClr val="tx1"/>
                </a:solidFill>
              </a:rPr>
              <a:t>Republier les meilleures vidéos de créateurs comme pubs TikTok et Meta : souvent moins chères qu'un créatif produit en interne.</a:t>
            </a:r>
            <a:endParaRPr lang="en-US" sz="1400" dirty="0"/>
          </a:p>
        </p:txBody>
      </p:sp>
      <p:sp>
        <p:nvSpPr>
          <p:cNvPr id="13" name="Livreurs et chauffeurs ambassadeurs"/>
          <p:cNvSpPr/>
          <p:nvPr/>
        </p:nvSpPr>
        <p:spPr>
          <a:xfrm>
            <a:off x="8077200" y="1417320"/>
            <a:ext cx="3535680" cy="2743200"/>
          </a:xfrm>
          <a:prstGeom prst="roundRect">
            <a:avLst>
              <a:gd name="adj" fmla="val 4000"/>
            </a:avLst>
          </a:prstGeom>
          <a:solidFill>
            <a:schemeClr val="bg2"/>
          </a:solidFill>
          <a:ln/>
        </p:spPr>
      </p:sp>
      <p:sp>
        <p:nvSpPr>
          <p:cNvPr id="14" name="Livreurs et chauffeurs ambassadeurs circle"/>
          <p:cNvSpPr/>
          <p:nvPr/>
        </p:nvSpPr>
        <p:spPr>
          <a:xfrm>
            <a:off x="8351520" y="1691640"/>
            <a:ext cx="548640" cy="548640"/>
          </a:xfrm>
          <a:prstGeom prst="ellipse">
            <a:avLst/>
          </a:prstGeom>
          <a:solidFill>
            <a:schemeClr val="accent1"/>
          </a:solidFill>
          <a:ln/>
        </p:spPr>
      </p:sp>
      <p:pic>
        <p:nvPicPr>
          <p:cNvPr id="15" name="Livreurs et chauffeurs ambassadeurs icon" descr="Livreurs et chauffeurs ambassadeurs">    </p:cNvPr>
          <p:cNvPicPr>
            <a:picLocks noChangeAspect="1"/>
          </p:cNvPicPr>
          <p:nvPr/>
        </p:nvPicPr>
        <p:blipFill>
          <a:blip r:embed="rId3"/>
          <a:stretch>
            <a:fillRect/>
          </a:stretch>
        </p:blipFill>
        <p:spPr>
          <a:xfrm>
            <a:off x="8494166" y="1834286"/>
            <a:ext cx="263347" cy="263347"/>
          </a:xfrm>
          <a:prstGeom prst="rect">
            <a:avLst/>
          </a:prstGeom>
        </p:spPr>
      </p:pic>
      <p:sp>
        <p:nvSpPr>
          <p:cNvPr id="16" name="Text 11"/>
          <p:cNvSpPr txBox="1"/>
          <p:nvPr/>
        </p:nvSpPr>
        <p:spPr>
          <a:xfrm>
            <a:off x="9037320" y="1645920"/>
            <a:ext cx="2346960" cy="640080"/>
          </a:xfrm>
          <a:prstGeom prst="rect">
            <a:avLst/>
          </a:prstGeom>
          <a:noFill/>
          <a:ln/>
        </p:spPr>
        <p:txBody>
          <a:bodyPr wrap="square" lIns="0" tIns="0" rIns="0" bIns="0" rtlCol="0" anchor="ctr"/>
          <a:lstStyle/>
          <a:p>
            <a:pPr indent="0" marL="0">
              <a:buNone/>
            </a:pPr>
            <a:r>
              <a:rPr lang="en-US" sz="1700" b="1" dirty="0">
                <a:solidFill>
                  <a:schemeClr val="tx2"/>
                </a:solidFill>
              </a:rPr>
              <a:t>Livreurs et chauffeurs ambassadeurs</a:t>
            </a:r>
            <a:endParaRPr lang="en-US" sz="1700" dirty="0"/>
          </a:p>
        </p:txBody>
      </p:sp>
      <p:sp>
        <p:nvSpPr>
          <p:cNvPr id="17" name="Text 12"/>
          <p:cNvSpPr txBox="1"/>
          <p:nvPr/>
        </p:nvSpPr>
        <p:spPr>
          <a:xfrm>
            <a:off x="8351520" y="2377440"/>
            <a:ext cx="2987040" cy="1645920"/>
          </a:xfrm>
          <a:prstGeom prst="rect">
            <a:avLst/>
          </a:prstGeom>
          <a:noFill/>
          <a:ln/>
        </p:spPr>
        <p:txBody>
          <a:bodyPr wrap="square" lIns="0" tIns="0" rIns="0" bIns="0" rtlCol="0" anchor="t"/>
          <a:lstStyle/>
          <a:p>
            <a:pPr indent="0" marL="0">
              <a:buNone/>
            </a:pPr>
            <a:r>
              <a:rPr lang="en-US" sz="1400" dirty="0">
                <a:solidFill>
                  <a:schemeClr val="tx1"/>
                </a:solidFill>
              </a:rPr>
              <a:t>Témoignages vidéo pour le recrutement et pour la confiance des clients. Sert aussi la marque employeur.</a:t>
            </a:r>
            <a:endParaRPr lang="en-US" sz="1400" dirty="0"/>
          </a:p>
        </p:txBody>
      </p:sp>
      <p:sp>
        <p:nvSpPr>
          <p:cNvPr id="18" name="Règle influence"/>
          <p:cNvSpPr/>
          <p:nvPr/>
        </p:nvSpPr>
        <p:spPr>
          <a:xfrm>
            <a:off x="548640" y="4434840"/>
            <a:ext cx="11064240" cy="1371600"/>
          </a:xfrm>
          <a:prstGeom prst="roundRect">
            <a:avLst>
              <a:gd name="adj" fmla="val 8000"/>
            </a:avLst>
          </a:prstGeom>
          <a:solidFill>
            <a:schemeClr val="bg2"/>
          </a:solidFill>
          <a:ln/>
        </p:spPr>
      </p:sp>
      <p:sp>
        <p:nvSpPr>
          <p:cNvPr id="19" name="Règle circle"/>
          <p:cNvSpPr/>
          <p:nvPr/>
        </p:nvSpPr>
        <p:spPr>
          <a:xfrm>
            <a:off x="822960" y="4800600"/>
            <a:ext cx="594360" cy="594360"/>
          </a:xfrm>
          <a:prstGeom prst="ellipse">
            <a:avLst/>
          </a:prstGeom>
          <a:solidFill>
            <a:schemeClr val="accent3"/>
          </a:solidFill>
          <a:ln/>
        </p:spPr>
      </p:sp>
      <p:pic>
        <p:nvPicPr>
          <p:cNvPr id="20" name="Règle icon" descr="Règle">    </p:cNvPr>
          <p:cNvPicPr>
            <a:picLocks noChangeAspect="1"/>
          </p:cNvPicPr>
          <p:nvPr/>
        </p:nvPicPr>
        <p:blipFill>
          <a:blip r:embed="rId4"/>
          <a:stretch>
            <a:fillRect/>
          </a:stretch>
        </p:blipFill>
        <p:spPr>
          <a:xfrm>
            <a:off x="977494" y="4955134"/>
            <a:ext cx="285293" cy="285293"/>
          </a:xfrm>
          <a:prstGeom prst="rect">
            <a:avLst/>
          </a:prstGeom>
        </p:spPr>
      </p:pic>
      <p:sp>
        <p:nvSpPr>
          <p:cNvPr id="21" name="Text 15"/>
          <p:cNvSpPr txBox="1"/>
          <p:nvPr/>
        </p:nvSpPr>
        <p:spPr>
          <a:xfrm>
            <a:off x="1645920" y="4526280"/>
            <a:ext cx="9692640" cy="1188720"/>
          </a:xfrm>
          <a:prstGeom prst="rect">
            <a:avLst/>
          </a:prstGeom>
          <a:noFill/>
          <a:ln/>
        </p:spPr>
        <p:txBody>
          <a:bodyPr wrap="square" lIns="0" tIns="0" rIns="0" bIns="0" rtlCol="0" anchor="ctr"/>
          <a:lstStyle/>
          <a:p>
            <a:pPr indent="0" marL="0">
              <a:buNone/>
            </a:pPr>
            <a:r>
              <a:rPr lang="en-US" sz="1600" b="1" dirty="0">
                <a:solidFill>
                  <a:schemeClr val="tx1"/>
                </a:solidFill>
              </a:rPr>
              <a:t>Règle : </a:t>
            </a:r>
            <a:pPr indent="0" marL="0">
              <a:buNone/>
            </a:pPr>
            <a:r>
              <a:rPr lang="en-US" sz="1600" dirty="0">
                <a:solidFill>
                  <a:schemeClr val="tx1"/>
                </a:solidFill>
              </a:rPr>
              <a:t>payer à la performance (code promo, commission) plutôt qu'au forfait, et valider chaque contenu avant publication, notamment sur les mentions « VTC » et les promesses de délai.</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Plan à 30, 60 et 90 jours</a:t>
            </a:r>
            <a:endParaRPr lang="en-US" sz="3600" dirty="0"/>
          </a:p>
        </p:txBody>
      </p:sp>
      <p:sp>
        <p:nvSpPr>
          <p:cNvPr id="3" name="30 jours"/>
          <p:cNvSpPr/>
          <p:nvPr/>
        </p:nvSpPr>
        <p:spPr>
          <a:xfrm>
            <a:off x="548640" y="1417320"/>
            <a:ext cx="3520440" cy="4572000"/>
          </a:xfrm>
          <a:prstGeom prst="roundRect">
            <a:avLst>
              <a:gd name="adj" fmla="val 3117"/>
            </a:avLst>
          </a:prstGeom>
          <a:solidFill>
            <a:schemeClr val="bg2"/>
          </a:solidFill>
          <a:ln/>
        </p:spPr>
      </p:sp>
      <p:sp>
        <p:nvSpPr>
          <p:cNvPr id="4" name="30 jours pastille"/>
          <p:cNvSpPr/>
          <p:nvPr/>
        </p:nvSpPr>
        <p:spPr>
          <a:xfrm>
            <a:off x="822960" y="1645920"/>
            <a:ext cx="1463040" cy="457200"/>
          </a:xfrm>
          <a:prstGeom prst="roundRect">
            <a:avLst>
              <a:gd name="adj" fmla="val 50000"/>
            </a:avLst>
          </a:prstGeom>
          <a:solidFill>
            <a:schemeClr val="accent2"/>
          </a:solidFill>
          <a:ln/>
        </p:spPr>
      </p:sp>
      <p:sp>
        <p:nvSpPr>
          <p:cNvPr id="5" name="Text 3"/>
          <p:cNvSpPr txBox="1"/>
          <p:nvPr/>
        </p:nvSpPr>
        <p:spPr>
          <a:xfrm>
            <a:off x="822960" y="164592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rPr>
              <a:t>30 jours</a:t>
            </a:r>
            <a:endParaRPr lang="en-US" sz="1500" dirty="0"/>
          </a:p>
        </p:txBody>
      </p:sp>
      <p:sp>
        <p:nvSpPr>
          <p:cNvPr id="6" name="Text 4"/>
          <p:cNvSpPr txBox="1"/>
          <p:nvPr/>
        </p:nvSpPr>
        <p:spPr>
          <a:xfrm>
            <a:off x="2423160" y="1645920"/>
            <a:ext cx="1463040" cy="457200"/>
          </a:xfrm>
          <a:prstGeom prst="rect">
            <a:avLst/>
          </a:prstGeom>
          <a:noFill/>
          <a:ln/>
        </p:spPr>
        <p:txBody>
          <a:bodyPr wrap="square" lIns="0" tIns="0" rIns="0" bIns="0" rtlCol="0" anchor="ctr"/>
          <a:lstStyle/>
          <a:p>
            <a:pPr indent="0" marL="0">
              <a:buNone/>
            </a:pPr>
            <a:r>
              <a:rPr lang="en-US" sz="1800" b="1" dirty="0">
                <a:solidFill>
                  <a:schemeClr val="tx2"/>
                </a:solidFill>
              </a:rPr>
              <a:t>Lancer</a:t>
            </a:r>
            <a:endParaRPr lang="en-US" sz="1800" dirty="0"/>
          </a:p>
        </p:txBody>
      </p:sp>
      <p:sp>
        <p:nvSpPr>
          <p:cNvPr id="7" name="Text 5"/>
          <p:cNvSpPr txBox="1"/>
          <p:nvPr/>
        </p:nvSpPr>
        <p:spPr>
          <a:xfrm>
            <a:off x="822960" y="2377440"/>
            <a:ext cx="301752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Mesure de référence : coût par commande, rétention</a:t>
            </a:r>
            <a:endParaRPr lang="en-US" sz="1500" dirty="0"/>
          </a:p>
          <a:p>
            <a:pPr marL="342900" indent="-342900">
              <a:spcAft>
                <a:spcPts val="800"/>
              </a:spcAft>
              <a:buSzPct val="100000"/>
              <a:buChar char="•"/>
            </a:pPr>
            <a:r>
              <a:rPr lang="en-US" sz="1500" dirty="0">
                <a:solidFill>
                  <a:schemeClr val="tx1"/>
                </a:solidFill>
              </a:rPr>
              <a:t>Campagnes Meta, TikTok et Google sur la 1re commande</a:t>
            </a:r>
            <a:endParaRPr lang="en-US" sz="1500" dirty="0"/>
          </a:p>
          <a:p>
            <a:pPr marL="342900" indent="-342900">
              <a:spcAft>
                <a:spcPts val="800"/>
              </a:spcAft>
              <a:buSzPct val="100000"/>
              <a:buChar char="•"/>
            </a:pPr>
            <a:r>
              <a:rPr lang="en-US" sz="1500" dirty="0">
                <a:solidFill>
                  <a:schemeClr val="tx1"/>
                </a:solidFill>
              </a:rPr>
              <a:t>Yassir Friday (Black Friday)</a:t>
            </a:r>
            <a:endParaRPr lang="en-US" sz="1500" dirty="0"/>
          </a:p>
          <a:p>
            <a:pPr marL="342900" indent="-342900">
              <a:spcAft>
                <a:spcPts val="800"/>
              </a:spcAft>
              <a:buSzPct val="100000"/>
              <a:buChar char="•"/>
            </a:pPr>
            <a:r>
              <a:rPr lang="en-US" sz="1500" dirty="0">
                <a:solidFill>
                  <a:schemeClr val="tx1"/>
                </a:solidFill>
              </a:rPr>
              <a:t>Page ville Casablanca et 2 guides food</a:t>
            </a:r>
            <a:endParaRPr lang="en-US" sz="1500" dirty="0"/>
          </a:p>
          <a:p>
            <a:pPr marL="342900" indent="-342900">
              <a:spcAft>
                <a:spcPts val="800"/>
              </a:spcAft>
              <a:buSzPct val="100000"/>
              <a:buChar char="•"/>
            </a:pPr>
            <a:r>
              <a:rPr lang="en-US" sz="1500" dirty="0">
                <a:solidFill>
                  <a:schemeClr val="tx1"/>
                </a:solidFill>
              </a:rPr>
              <a:t>Parrainage et relance des inactifs</a:t>
            </a:r>
            <a:endParaRPr lang="en-US" sz="1500" dirty="0"/>
          </a:p>
        </p:txBody>
      </p:sp>
      <p:sp>
        <p:nvSpPr>
          <p:cNvPr id="8" name="60 jours"/>
          <p:cNvSpPr/>
          <p:nvPr/>
        </p:nvSpPr>
        <p:spPr>
          <a:xfrm>
            <a:off x="4297680" y="1417320"/>
            <a:ext cx="3520440" cy="4572000"/>
          </a:xfrm>
          <a:prstGeom prst="roundRect">
            <a:avLst>
              <a:gd name="adj" fmla="val 3117"/>
            </a:avLst>
          </a:prstGeom>
          <a:solidFill>
            <a:schemeClr val="bg2"/>
          </a:solidFill>
          <a:ln/>
        </p:spPr>
      </p:sp>
      <p:sp>
        <p:nvSpPr>
          <p:cNvPr id="9" name="60 jours pastille"/>
          <p:cNvSpPr/>
          <p:nvPr/>
        </p:nvSpPr>
        <p:spPr>
          <a:xfrm>
            <a:off x="4572000" y="1645920"/>
            <a:ext cx="1463040" cy="457200"/>
          </a:xfrm>
          <a:prstGeom prst="roundRect">
            <a:avLst>
              <a:gd name="adj" fmla="val 50000"/>
            </a:avLst>
          </a:prstGeom>
          <a:solidFill>
            <a:schemeClr val="accent1"/>
          </a:solidFill>
          <a:ln/>
        </p:spPr>
      </p:sp>
      <p:sp>
        <p:nvSpPr>
          <p:cNvPr id="10" name="Text 8"/>
          <p:cNvSpPr txBox="1"/>
          <p:nvPr/>
        </p:nvSpPr>
        <p:spPr>
          <a:xfrm>
            <a:off x="4572000" y="164592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rPr>
              <a:t>60 jours</a:t>
            </a:r>
            <a:endParaRPr lang="en-US" sz="1500" dirty="0"/>
          </a:p>
        </p:txBody>
      </p:sp>
      <p:sp>
        <p:nvSpPr>
          <p:cNvPr id="11" name="Text 9"/>
          <p:cNvSpPr txBox="1"/>
          <p:nvPr/>
        </p:nvSpPr>
        <p:spPr>
          <a:xfrm>
            <a:off x="6172200" y="1645920"/>
            <a:ext cx="1463040" cy="457200"/>
          </a:xfrm>
          <a:prstGeom prst="rect">
            <a:avLst/>
          </a:prstGeom>
          <a:noFill/>
          <a:ln/>
        </p:spPr>
        <p:txBody>
          <a:bodyPr wrap="square" lIns="0" tIns="0" rIns="0" bIns="0" rtlCol="0" anchor="ctr"/>
          <a:lstStyle/>
          <a:p>
            <a:pPr indent="0" marL="0">
              <a:buNone/>
            </a:pPr>
            <a:r>
              <a:rPr lang="en-US" sz="1800" b="1" dirty="0">
                <a:solidFill>
                  <a:schemeClr val="tx2"/>
                </a:solidFill>
              </a:rPr>
              <a:t>Optimiser</a:t>
            </a:r>
            <a:endParaRPr lang="en-US" sz="1800" dirty="0"/>
          </a:p>
        </p:txBody>
      </p:sp>
      <p:sp>
        <p:nvSpPr>
          <p:cNvPr id="12" name="Text 10"/>
          <p:cNvSpPr txBox="1"/>
          <p:nvPr/>
        </p:nvSpPr>
        <p:spPr>
          <a:xfrm>
            <a:off x="4572000" y="2377440"/>
            <a:ext cx="301752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Réallouer le budget selon le coût par commande</a:t>
            </a:r>
            <a:endParaRPr lang="en-US" sz="1500" dirty="0"/>
          </a:p>
          <a:p>
            <a:pPr marL="342900" indent="-342900">
              <a:spcAft>
                <a:spcPts val="800"/>
              </a:spcAft>
              <a:buSzPct val="100000"/>
              <a:buChar char="•"/>
            </a:pPr>
            <a:r>
              <a:rPr lang="en-US" sz="1500" dirty="0">
                <a:solidFill>
                  <a:schemeClr val="tx1"/>
                </a:solidFill>
              </a:rPr>
              <a:t>Baromètre data et premier communiqué</a:t>
            </a:r>
            <a:endParaRPr lang="en-US" sz="1500" dirty="0"/>
          </a:p>
          <a:p>
            <a:pPr marL="342900" indent="-342900">
              <a:spcAft>
                <a:spcPts val="800"/>
              </a:spcAft>
              <a:buSzPct val="100000"/>
              <a:buChar char="•"/>
            </a:pPr>
            <a:r>
              <a:rPr lang="en-US" sz="1500" dirty="0">
                <a:solidFill>
                  <a:schemeClr val="tx1"/>
                </a:solidFill>
              </a:rPr>
              <a:t>Kit « Commandez sur Yassir » aux restaurants</a:t>
            </a:r>
            <a:endParaRPr lang="en-US" sz="1500" dirty="0"/>
          </a:p>
          <a:p>
            <a:pPr marL="342900" indent="-342900">
              <a:spcAft>
                <a:spcPts val="800"/>
              </a:spcAft>
              <a:buSzPct val="100000"/>
              <a:buChar char="•"/>
            </a:pPr>
            <a:r>
              <a:rPr lang="en-US" sz="1500" dirty="0">
                <a:solidFill>
                  <a:schemeClr val="tx1"/>
                </a:solidFill>
              </a:rPr>
              <a:t>Campagne pluie et fin d'année</a:t>
            </a:r>
            <a:endParaRPr lang="en-US" sz="1500" dirty="0"/>
          </a:p>
          <a:p>
            <a:pPr marL="342900" indent="-342900">
              <a:spcAft>
                <a:spcPts val="800"/>
              </a:spcAft>
              <a:buSzPct val="100000"/>
              <a:buChar char="•"/>
            </a:pPr>
            <a:r>
              <a:rPr lang="en-US" sz="1500" dirty="0">
                <a:solidFill>
                  <a:schemeClr val="tx1"/>
                </a:solidFill>
              </a:rPr>
              <a:t>Test de l'angle MRE</a:t>
            </a:r>
            <a:endParaRPr lang="en-US" sz="1500" dirty="0"/>
          </a:p>
        </p:txBody>
      </p:sp>
      <p:sp>
        <p:nvSpPr>
          <p:cNvPr id="13" name="90 jours"/>
          <p:cNvSpPr/>
          <p:nvPr/>
        </p:nvSpPr>
        <p:spPr>
          <a:xfrm>
            <a:off x="8046720" y="1417320"/>
            <a:ext cx="3520440" cy="4572000"/>
          </a:xfrm>
          <a:prstGeom prst="roundRect">
            <a:avLst>
              <a:gd name="adj" fmla="val 3117"/>
            </a:avLst>
          </a:prstGeom>
          <a:solidFill>
            <a:schemeClr val="bg2"/>
          </a:solidFill>
          <a:ln/>
        </p:spPr>
      </p:sp>
      <p:sp>
        <p:nvSpPr>
          <p:cNvPr id="14" name="90 jours pastille"/>
          <p:cNvSpPr/>
          <p:nvPr/>
        </p:nvSpPr>
        <p:spPr>
          <a:xfrm>
            <a:off x="8321040" y="1645920"/>
            <a:ext cx="1463040" cy="457200"/>
          </a:xfrm>
          <a:prstGeom prst="roundRect">
            <a:avLst>
              <a:gd name="adj" fmla="val 50000"/>
            </a:avLst>
          </a:prstGeom>
          <a:solidFill>
            <a:schemeClr val="accent4"/>
          </a:solidFill>
          <a:ln/>
        </p:spPr>
      </p:sp>
      <p:sp>
        <p:nvSpPr>
          <p:cNvPr id="15" name="Text 13"/>
          <p:cNvSpPr txBox="1"/>
          <p:nvPr/>
        </p:nvSpPr>
        <p:spPr>
          <a:xfrm>
            <a:off x="8321040" y="164592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rPr>
              <a:t>90 jours</a:t>
            </a:r>
            <a:endParaRPr lang="en-US" sz="1500" dirty="0"/>
          </a:p>
        </p:txBody>
      </p:sp>
      <p:sp>
        <p:nvSpPr>
          <p:cNvPr id="16" name="Text 14"/>
          <p:cNvSpPr txBox="1"/>
          <p:nvPr/>
        </p:nvSpPr>
        <p:spPr>
          <a:xfrm>
            <a:off x="9921240" y="1645920"/>
            <a:ext cx="1463040" cy="457200"/>
          </a:xfrm>
          <a:prstGeom prst="rect">
            <a:avLst/>
          </a:prstGeom>
          <a:noFill/>
          <a:ln/>
        </p:spPr>
        <p:txBody>
          <a:bodyPr wrap="square" lIns="0" tIns="0" rIns="0" bIns="0" rtlCol="0" anchor="ctr"/>
          <a:lstStyle/>
          <a:p>
            <a:pPr indent="0" marL="0">
              <a:buNone/>
            </a:pPr>
            <a:r>
              <a:rPr lang="en-US" sz="1800" b="1" dirty="0">
                <a:solidFill>
                  <a:schemeClr val="tx2"/>
                </a:solidFill>
              </a:rPr>
              <a:t>Accélérer</a:t>
            </a:r>
            <a:endParaRPr lang="en-US" sz="1800" dirty="0"/>
          </a:p>
        </p:txBody>
      </p:sp>
      <p:sp>
        <p:nvSpPr>
          <p:cNvPr id="17" name="Text 15"/>
          <p:cNvSpPr txBox="1"/>
          <p:nvPr/>
        </p:nvSpPr>
        <p:spPr>
          <a:xfrm>
            <a:off x="8321040" y="2377440"/>
            <a:ext cx="301752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Campagnes Ramadan prêtes et validées</a:t>
            </a:r>
            <a:endParaRPr lang="en-US" sz="1500" dirty="0"/>
          </a:p>
          <a:p>
            <a:pPr marL="342900" indent="-342900">
              <a:spcAft>
                <a:spcPts val="800"/>
              </a:spcAft>
              <a:buSzPct val="100000"/>
              <a:buChar char="•"/>
            </a:pPr>
            <a:r>
              <a:rPr lang="en-US" sz="1500" dirty="0">
                <a:solidFill>
                  <a:schemeClr val="tx1"/>
                </a:solidFill>
              </a:rPr>
              <a:t>Pages Rabat et Marrakech</a:t>
            </a:r>
            <a:endParaRPr lang="en-US" sz="1500" dirty="0"/>
          </a:p>
          <a:p>
            <a:pPr marL="342900" indent="-342900">
              <a:spcAft>
                <a:spcPts val="800"/>
              </a:spcAft>
              <a:buSzPct val="100000"/>
              <a:buChar char="•"/>
            </a:pPr>
            <a:r>
              <a:rPr lang="en-US" sz="1500" dirty="0">
                <a:solidFill>
                  <a:schemeClr val="tx1"/>
                </a:solidFill>
              </a:rPr>
              <a:t>Programme micro-influenceurs en place</a:t>
            </a:r>
            <a:endParaRPr lang="en-US" sz="1500" dirty="0"/>
          </a:p>
          <a:p>
            <a:pPr marL="342900" indent="-342900">
              <a:spcAft>
                <a:spcPts val="800"/>
              </a:spcAft>
              <a:buSzPct val="100000"/>
              <a:buChar char="•"/>
            </a:pPr>
            <a:r>
              <a:rPr lang="en-US" sz="1500" dirty="0">
                <a:solidFill>
                  <a:schemeClr val="tx1"/>
                </a:solidFill>
              </a:rPr>
              <a:t>Fiches stores optimisées FR et AR</a:t>
            </a:r>
            <a:endParaRPr lang="en-US" sz="1500" dirty="0"/>
          </a:p>
          <a:p>
            <a:pPr marL="342900" indent="-342900">
              <a:spcAft>
                <a:spcPts val="800"/>
              </a:spcAft>
              <a:buSzPct val="100000"/>
              <a:buChar char="•"/>
            </a:pPr>
            <a:r>
              <a:rPr lang="en-US" sz="1500" dirty="0">
                <a:solidFill>
                  <a:schemeClr val="tx1"/>
                </a:solidFill>
              </a:rPr>
              <a:t>Bilan : ce qu'on garde, ce qu'on coupe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Arial" pitchFamily="34" charset="0"/>
                <a:ea typeface="Arial" pitchFamily="34" charset="-122"/>
                <a:cs typeface="Arial" pitchFamily="34" charset="-120"/>
              </a:rPr>
              <a:t>Budget et pilotage</a:t>
            </a:r>
            <a:endParaRPr lang="en-US" sz="3600" dirty="0"/>
          </a:p>
        </p:txBody>
      </p:sp>
      <p:graphicFrame>
        <p:nvGraphicFramePr>
          <p:cNvPr id="3" name="Chart 0" descr=""/>
          <p:cNvGraphicFramePr/>
          <p:nvPr/>
        </p:nvGraphicFramePr>
        <p:xfrm>
          <a:off x="365760" y="1280160"/>
          <a:ext cx="548640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280160"/>
          <a:ext cx="5486400" cy="3657600"/>
        </p:xfrm>
        <a:graphic xmlns:a="http://schemas.openxmlformats.org/drawingml/2006/main">
          <a:graphicData uri="http://schemas.openxmlformats.org/drawingml/2006/chart">
            <c:chart xmlns:c="http://schemas.openxmlformats.org/drawingml/2006/chart" r:id="rId2"/>
          </a:graphicData>
        </a:graphic>
      </p:graphicFrame>
      <p:sp>
        <p:nvSpPr>
          <p:cNvPr id="5" name="Tableau de bord hebdo circle"/>
          <p:cNvSpPr/>
          <p:nvPr/>
        </p:nvSpPr>
        <p:spPr>
          <a:xfrm>
            <a:off x="548640" y="5166360"/>
            <a:ext cx="548640" cy="548640"/>
          </a:xfrm>
          <a:prstGeom prst="ellipse">
            <a:avLst/>
          </a:prstGeom>
          <a:solidFill>
            <a:schemeClr val="accent1"/>
          </a:solidFill>
          <a:ln/>
        </p:spPr>
      </p:sp>
      <p:pic>
        <p:nvPicPr>
          <p:cNvPr id="6" name="Tableau de bord hebdo icon" descr="Tableau de bord hebdo">    </p:cNvPr>
          <p:cNvPicPr>
            <a:picLocks noChangeAspect="1"/>
          </p:cNvPicPr>
          <p:nvPr/>
        </p:nvPicPr>
        <p:blipFill>
          <a:blip r:embed="rId3"/>
          <a:stretch>
            <a:fillRect/>
          </a:stretch>
        </p:blipFill>
        <p:spPr>
          <a:xfrm>
            <a:off x="691286" y="5309006"/>
            <a:ext cx="263347" cy="263347"/>
          </a:xfrm>
          <a:prstGeom prst="rect">
            <a:avLst/>
          </a:prstGeom>
        </p:spPr>
      </p:pic>
      <p:sp>
        <p:nvSpPr>
          <p:cNvPr id="7" name="Text 2"/>
          <p:cNvSpPr txBox="1"/>
          <p:nvPr/>
        </p:nvSpPr>
        <p:spPr>
          <a:xfrm>
            <a:off x="1234440" y="5120640"/>
            <a:ext cx="2880360" cy="365760"/>
          </a:xfrm>
          <a:prstGeom prst="rect">
            <a:avLst/>
          </a:prstGeom>
          <a:noFill/>
          <a:ln/>
        </p:spPr>
        <p:txBody>
          <a:bodyPr wrap="square" lIns="0" tIns="0" rIns="0" bIns="0" rtlCol="0" anchor="t"/>
          <a:lstStyle/>
          <a:p>
            <a:pPr indent="0" marL="0">
              <a:buNone/>
            </a:pPr>
            <a:r>
              <a:rPr lang="en-US" sz="1600" b="1" dirty="0">
                <a:solidFill>
                  <a:schemeClr val="tx2"/>
                </a:solidFill>
              </a:rPr>
              <a:t>Tableau de bord hebdo</a:t>
            </a:r>
            <a:endParaRPr lang="en-US" sz="1600" dirty="0"/>
          </a:p>
        </p:txBody>
      </p:sp>
      <p:sp>
        <p:nvSpPr>
          <p:cNvPr id="8" name="Text 3"/>
          <p:cNvSpPr txBox="1"/>
          <p:nvPr/>
        </p:nvSpPr>
        <p:spPr>
          <a:xfrm>
            <a:off x="1234440" y="5486400"/>
            <a:ext cx="2880360" cy="594360"/>
          </a:xfrm>
          <a:prstGeom prst="rect">
            <a:avLst/>
          </a:prstGeom>
          <a:noFill/>
          <a:ln/>
        </p:spPr>
        <p:txBody>
          <a:bodyPr wrap="square" lIns="0" tIns="0" rIns="0" bIns="0" rtlCol="0" anchor="t"/>
          <a:lstStyle/>
          <a:p>
            <a:pPr indent="0" marL="0">
              <a:buNone/>
            </a:pPr>
            <a:r>
              <a:rPr lang="en-US" sz="1300" dirty="0">
                <a:solidFill>
                  <a:schemeClr val="tx1"/>
                </a:solidFill>
              </a:rPr>
              <a:t>Coût par 1re commande et rétention, par plateforme.</a:t>
            </a:r>
            <a:endParaRPr lang="en-US" sz="1300" dirty="0"/>
          </a:p>
        </p:txBody>
      </p:sp>
      <p:sp>
        <p:nvSpPr>
          <p:cNvPr id="9" name="Nommage propre circle"/>
          <p:cNvSpPr/>
          <p:nvPr/>
        </p:nvSpPr>
        <p:spPr>
          <a:xfrm>
            <a:off x="4297680" y="5166360"/>
            <a:ext cx="548640" cy="548640"/>
          </a:xfrm>
          <a:prstGeom prst="ellipse">
            <a:avLst/>
          </a:prstGeom>
          <a:solidFill>
            <a:schemeClr val="accent1"/>
          </a:solidFill>
          <a:ln/>
        </p:spPr>
      </p:sp>
      <p:pic>
        <p:nvPicPr>
          <p:cNvPr id="10" name="Nommage propre icon" descr="Nommage propre">    </p:cNvPr>
          <p:cNvPicPr>
            <a:picLocks noChangeAspect="1"/>
          </p:cNvPicPr>
          <p:nvPr/>
        </p:nvPicPr>
        <p:blipFill>
          <a:blip r:embed="rId4"/>
          <a:stretch>
            <a:fillRect/>
          </a:stretch>
        </p:blipFill>
        <p:spPr>
          <a:xfrm>
            <a:off x="4440326" y="5309006"/>
            <a:ext cx="263347" cy="263347"/>
          </a:xfrm>
          <a:prstGeom prst="rect">
            <a:avLst/>
          </a:prstGeom>
        </p:spPr>
      </p:pic>
      <p:sp>
        <p:nvSpPr>
          <p:cNvPr id="11" name="Text 5"/>
          <p:cNvSpPr txBox="1"/>
          <p:nvPr/>
        </p:nvSpPr>
        <p:spPr>
          <a:xfrm>
            <a:off x="4983480" y="5120640"/>
            <a:ext cx="2880360" cy="365760"/>
          </a:xfrm>
          <a:prstGeom prst="rect">
            <a:avLst/>
          </a:prstGeom>
          <a:noFill/>
          <a:ln/>
        </p:spPr>
        <p:txBody>
          <a:bodyPr wrap="square" lIns="0" tIns="0" rIns="0" bIns="0" rtlCol="0" anchor="t"/>
          <a:lstStyle/>
          <a:p>
            <a:pPr indent="0" marL="0">
              <a:buNone/>
            </a:pPr>
            <a:r>
              <a:rPr lang="en-US" sz="1600" b="1" dirty="0">
                <a:solidFill>
                  <a:schemeClr val="tx2"/>
                </a:solidFill>
              </a:rPr>
              <a:t>Nommage propre</a:t>
            </a:r>
            <a:endParaRPr lang="en-US" sz="1600" dirty="0"/>
          </a:p>
        </p:txBody>
      </p:sp>
      <p:sp>
        <p:nvSpPr>
          <p:cNvPr id="12" name="Text 6"/>
          <p:cNvSpPr txBox="1"/>
          <p:nvPr/>
        </p:nvSpPr>
        <p:spPr>
          <a:xfrm>
            <a:off x="4983480" y="5486400"/>
            <a:ext cx="2880360" cy="594360"/>
          </a:xfrm>
          <a:prstGeom prst="rect">
            <a:avLst/>
          </a:prstGeom>
          <a:noFill/>
          <a:ln/>
        </p:spPr>
        <p:txBody>
          <a:bodyPr wrap="square" lIns="0" tIns="0" rIns="0" bIns="0" rtlCol="0" anchor="t"/>
          <a:lstStyle/>
          <a:p>
            <a:pPr indent="0" marL="0">
              <a:buNone/>
            </a:pPr>
            <a:r>
              <a:rPr lang="en-US" sz="1300" dirty="0">
                <a:solidFill>
                  <a:schemeClr val="tx1"/>
                </a:solidFill>
              </a:rPr>
              <a:t>Corriger « genreic » dans Adjust, fixer une convention.</a:t>
            </a:r>
            <a:endParaRPr lang="en-US" sz="1300" dirty="0"/>
          </a:p>
        </p:txBody>
      </p:sp>
      <p:sp>
        <p:nvSpPr>
          <p:cNvPr id="13" name="Règle de coupe circle"/>
          <p:cNvSpPr/>
          <p:nvPr/>
        </p:nvSpPr>
        <p:spPr>
          <a:xfrm>
            <a:off x="8046720" y="5166360"/>
            <a:ext cx="548640" cy="548640"/>
          </a:xfrm>
          <a:prstGeom prst="ellipse">
            <a:avLst/>
          </a:prstGeom>
          <a:solidFill>
            <a:schemeClr val="accent1"/>
          </a:solidFill>
          <a:ln/>
        </p:spPr>
      </p:sp>
      <p:pic>
        <p:nvPicPr>
          <p:cNvPr id="14" name="Règle de coupe icon" descr="Règle de coupe">    </p:cNvPr>
          <p:cNvPicPr>
            <a:picLocks noChangeAspect="1"/>
          </p:cNvPicPr>
          <p:nvPr/>
        </p:nvPicPr>
        <p:blipFill>
          <a:blip r:embed="rId5"/>
          <a:stretch>
            <a:fillRect/>
          </a:stretch>
        </p:blipFill>
        <p:spPr>
          <a:xfrm>
            <a:off x="8189366" y="5309006"/>
            <a:ext cx="263347" cy="263347"/>
          </a:xfrm>
          <a:prstGeom prst="rect">
            <a:avLst/>
          </a:prstGeom>
        </p:spPr>
      </p:pic>
      <p:sp>
        <p:nvSpPr>
          <p:cNvPr id="15" name="Text 8"/>
          <p:cNvSpPr txBox="1"/>
          <p:nvPr/>
        </p:nvSpPr>
        <p:spPr>
          <a:xfrm>
            <a:off x="8732520" y="5120640"/>
            <a:ext cx="2880360" cy="365760"/>
          </a:xfrm>
          <a:prstGeom prst="rect">
            <a:avLst/>
          </a:prstGeom>
          <a:noFill/>
          <a:ln/>
        </p:spPr>
        <p:txBody>
          <a:bodyPr wrap="square" lIns="0" tIns="0" rIns="0" bIns="0" rtlCol="0" anchor="t"/>
          <a:lstStyle/>
          <a:p>
            <a:pPr indent="0" marL="0">
              <a:buNone/>
            </a:pPr>
            <a:r>
              <a:rPr lang="en-US" sz="1600" b="1" dirty="0">
                <a:solidFill>
                  <a:schemeClr val="tx2"/>
                </a:solidFill>
              </a:rPr>
              <a:t>Règle de coupe</a:t>
            </a:r>
            <a:endParaRPr lang="en-US" sz="1600" dirty="0"/>
          </a:p>
        </p:txBody>
      </p:sp>
      <p:sp>
        <p:nvSpPr>
          <p:cNvPr id="16" name="Text 9"/>
          <p:cNvSpPr txBox="1"/>
          <p:nvPr/>
        </p:nvSpPr>
        <p:spPr>
          <a:xfrm>
            <a:off x="8732520" y="5486400"/>
            <a:ext cx="2880360" cy="594360"/>
          </a:xfrm>
          <a:prstGeom prst="rect">
            <a:avLst/>
          </a:prstGeom>
          <a:noFill/>
          <a:ln/>
        </p:spPr>
        <p:txBody>
          <a:bodyPr wrap="square" lIns="0" tIns="0" rIns="0" bIns="0" rtlCol="0" anchor="t"/>
          <a:lstStyle/>
          <a:p>
            <a:pPr indent="0" marL="0">
              <a:buNone/>
            </a:pPr>
            <a:r>
              <a:rPr lang="en-US" sz="1300" dirty="0">
                <a:solidFill>
                  <a:schemeClr val="tx1"/>
                </a:solidFill>
              </a:rPr>
              <a:t>Au-dessus de 80 DH par client 7 jours de suite : budget retiré.</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645920"/>
          </a:xfrm>
          <a:prstGeom prst="rect">
            <a:avLst/>
          </a:prstGeom>
          <a:noFill/>
          <a:ln/>
        </p:spPr>
        <p:txBody>
          <a:bodyPr wrap="square" lIns="0" tIns="0" rIns="0" bIns="0" rtlCol="0" anchor="b"/>
          <a:lstStyle/>
          <a:p>
            <a:pPr algn="l" indent="0" marL="0">
              <a:buNone/>
            </a:pPr>
            <a:r>
              <a:rPr lang="en-US" sz="4400" b="1" dirty="0">
                <a:solidFill>
                  <a:schemeClr val="bg1"/>
                </a:solidFill>
                <a:latin typeface="Arial" pitchFamily="34" charset="0"/>
                <a:ea typeface="Arial" pitchFamily="34" charset="-122"/>
                <a:cs typeface="Arial" pitchFamily="34" charset="-120"/>
              </a:rPr>
              <a:t>Ce qu'il faut décider maintenant</a:t>
            </a:r>
            <a:endParaRPr lang="en-US" sz="44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indent="0" marL="0">
              <a:buNone/>
            </a:pPr>
            <a:r>
              <a:rPr lang="en-US" sz="1800" dirty="0">
                <a:solidFill>
                  <a:schemeClr val="accent6"/>
                </a:solidFill>
              </a:rPr>
              <a:t>1. Le montant du code de bienvenue (30 DH proposé) et le cofinancement des restaurants</a:t>
            </a:r>
            <a:endParaRPr lang="en-US" sz="1800" dirty="0"/>
          </a:p>
          <a:p>
            <a:pPr indent="0" marL="0">
              <a:buNone/>
            </a:pPr>
            <a:r>
              <a:rPr lang="en-US" sz="1800" dirty="0">
                <a:solidFill>
                  <a:schemeClr val="accent6"/>
                </a:solidFill>
              </a:rPr>
              <a:t>2. Validation juridique du vocabulaire (« VTC », délais de livraison)</a:t>
            </a:r>
            <a:endParaRPr lang="en-US" sz="1800" dirty="0"/>
          </a:p>
          <a:p>
            <a:pPr indent="0" marL="0">
              <a:buNone/>
            </a:pPr>
            <a:r>
              <a:rPr lang="en-US" sz="1800" dirty="0">
                <a:solidFill>
                  <a:schemeClr val="accent6"/>
                </a:solidFill>
              </a:rPr>
              <a:t>3. Un budget pour la fin du Ramadan en mars, hors des 200 000 DH</a:t>
            </a:r>
            <a:endParaRPr lang="en-US" sz="1800" dirty="0"/>
          </a:p>
        </p:txBody>
      </p:sp>
      <p:sp>
        <p:nvSpPr>
          <p:cNvPr id="4" name="Décisions circle"/>
          <p:cNvSpPr/>
          <p:nvPr/>
        </p:nvSpPr>
        <p:spPr>
          <a:xfrm>
            <a:off x="731520" y="914400"/>
            <a:ext cx="731520" cy="731520"/>
          </a:xfrm>
          <a:prstGeom prst="ellipse">
            <a:avLst/>
          </a:prstGeom>
          <a:solidFill>
            <a:schemeClr val="accent1"/>
          </a:solidFill>
          <a:ln/>
        </p:spPr>
      </p:sp>
      <p:pic>
        <p:nvPicPr>
          <p:cNvPr id="5" name="Décisions icon" descr="Décisions">    </p:cNvPr>
          <p:cNvPicPr>
            <a:picLocks noChangeAspect="1"/>
          </p:cNvPicPr>
          <p:nvPr/>
        </p:nvPicPr>
        <p:blipFill>
          <a:blip r:embed="rId1"/>
          <a:stretch>
            <a:fillRect/>
          </a:stretch>
        </p:blipFill>
        <p:spPr>
          <a:xfrm>
            <a:off x="921715" y="1104595"/>
            <a:ext cx="351130" cy="351130"/>
          </a:xfrm>
          <a:prstGeom prst="rect">
            <a:avLst/>
          </a:prstGeom>
        </p:spPr>
      </p:pic>
    </p:spTree>
  </p:cSld>
  <p:clrMapOvr>
    <a:masterClrMapping/>
  </p:clrMapOvr>
</p:sld>
</file>

<file path=ppt/theme/theme1.xml><?xml version="1.0" encoding="utf-8"?>
<a:theme xmlns:a="http://schemas.openxmlformats.org/drawingml/2006/main" name="Yassir Plan Marketing">
  <a:themeElements>
    <a:clrScheme name="Yassir Plan Marketing">
      <a:dk1>
        <a:srgbClr val="1B1530"/>
      </a:dk1>
      <a:lt1>
        <a:srgbClr val="FFFFFF"/>
      </a:lt1>
      <a:dk2>
        <a:srgbClr val="2B0F66"/>
      </a:dk2>
      <a:lt2>
        <a:srgbClr val="F3EEFD"/>
      </a:lt2>
      <a:accent1>
        <a:srgbClr val="6D28D9"/>
      </a:accent1>
      <a:accent2>
        <a:srgbClr val="0E7F59"/>
      </a:accent2>
      <a:accent3>
        <a:srgbClr val="B86E00"/>
      </a:accent3>
      <a:accent4>
        <a:srgbClr val="C62F2F"/>
      </a:accent4>
      <a:accent5>
        <a:srgbClr val="6B6385"/>
      </a:accent5>
      <a:accent6>
        <a:srgbClr val="C9B8F5"/>
      </a:accent6>
      <a:hlink>
        <a:srgbClr val="6D28D9"/>
      </a:hlink>
      <a:folHlink>
        <a:srgbClr val="4C1D95"/>
      </a:folHlink>
    </a:clrScheme>
    <a:fontScheme name="Yassir Plan Market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Yassir Maroc - Plan d'actions marketing</dc:title>
  <dc:subject>PptxGenJS Presentation</dc:subject>
  <dc:creator>Service Marketing</dc:creator>
  <cp:lastModifiedBy>Service Marketing</cp:lastModifiedBy>
  <cp:revision>1</cp:revision>
  <dcterms:created xsi:type="dcterms:W3CDTF">2026-10-28T17:37:58Z</dcterms:created>
  <dcterms:modified xsi:type="dcterms:W3CDTF">2026-10-28T17:37:58Z</dcterms:modified>
</cp:coreProperties>
</file>