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adrage" id="{327461f7-fd7a-0025-cd64-10a57e1fae67}">
          <p14:sldIdLst>
            <p14:sldId id="256"/>
            <p14:sldId id="257"/>
            <p14:sldId id="258"/>
          </p14:sldIdLst>
        </p14:section>
        <p14:section name="SEO par le marketing" id="{e7a8f6c3-d621-500a-0827-f733a4f3832b}">
          <p14:sldIdLst>
            <p14:sldId id="259"/>
            <p14:sldId id="260"/>
            <p14:sldId id="261"/>
          </p14:sldIdLst>
        </p14:section>
        <p14:section name="Campagnes ads" id="{c47653fe-c80d-63d4-4e08-ae8076a2d235}">
          <p14:sldIdLst>
            <p14:sldId id="262"/>
            <p14:sldId id="263"/>
          </p14:sldIdLst>
        </p14:section>
        <p14:section name="Calendrier" id="{e386c725-6315-cdf8-9fd4-5af3927708ef}">
          <p14:sldIdLst>
            <p14:sldId id="264"/>
          </p14:sldIdLst>
        </p14:section>
        <p14:section name="CRM et influence" id="{3affff67-3e88-56b2-b298-a6410808105a}">
          <p14:sldIdLst>
            <p14:sldId id="265"/>
            <p14:sldId id="266"/>
          </p14:sldIdLst>
        </p14:section>
        <p14:section name="Plan d'action" id="{69ee115a-9e66-a68e-44b6-ef5e8003d050}">
          <p14:sldIdLst>
            <p14:sldId id="267"/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B0F66"/>
                </a:solidFill>
                <a:latin typeface="+mj-lt"/>
              </a:defRPr>
            </a:pPr>
            <a:r>
              <a:rPr sz="1400" b="0" i="0" u="none" strike="noStrike">
                <a:solidFill>
                  <a:srgbClr val="2B0F66"/>
                </a:solidFill>
                <a:latin typeface="+mj-lt"/>
              </a:rPr>
              <a:t>Répartition du budget marketing (hypothèse)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Répartition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6D28D9"/>
              </a:solidFill>
              <a:effectLst/>
            </c:spPr>
          </c:dPt>
          <c:dPt>
            <c:idx val="1"/>
            <c:bubble3D val="0"/>
            <c:spPr>
              <a:solidFill>
                <a:srgbClr val="0E7F59"/>
              </a:solidFill>
              <a:effectLst/>
            </c:spPr>
          </c:dPt>
          <c:dPt>
            <c:idx val="2"/>
            <c:bubble3D val="0"/>
            <c:spPr>
              <a:solidFill>
                <a:srgbClr val="B86E00"/>
              </a:solidFill>
              <a:effectLst/>
            </c:spPr>
          </c:dPt>
          <c:dPt>
            <c:idx val="3"/>
            <c:bubble3D val="0"/>
            <c:spPr>
              <a:solidFill>
                <a:srgbClr val="2B0F66"/>
              </a:solidFill>
              <a:effectLst/>
            </c:spPr>
          </c:dPt>
          <c:dPt>
            <c:idx val="4"/>
            <c:bubble3D val="0"/>
            <c:spPr>
              <a:solidFill>
                <a:srgbClr val="C9B8F5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Ads acquisition</c:v>
                </c:pt>
                <c:pt idx="1">
                  <c:v>CRM et parrainage</c:v>
                </c:pt>
                <c:pt idx="2">
                  <c:v>Influence</c:v>
                </c:pt>
                <c:pt idx="3">
                  <c:v>Contenu SEO et RP</c:v>
                </c:pt>
                <c:pt idx="4">
                  <c:v>Réserve de test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55</c:v>
                </c:pt>
                <c:pt idx="1">
                  <c:v>15</c:v>
                </c:pt>
                <c:pt idx="2">
                  <c:v>15</c:v>
                </c:pt>
                <c:pt idx="3">
                  <c:v>10</c:v>
                </c:pt>
                <c:pt idx="4">
                  <c:v>5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B153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 deck complète l'audit SEO technique : ici, uniquement des actions marketing, pilotables par l'équipe marketing, sur les quatre prochains mois.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Commencer par ces quatre points évite les deux erreurs classiques : attendre du SEO un effet immédiat, et dépenser sans règle de décision.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L'indicateur clé n'est pas l'installation mais la première commande : une installation sans commande est une dépense, pas un client.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site n'a aujourd'hui aucune page ville ni aucun article Maroc. C'est la plus grosse opportunité SEO, et elle relève du marketing (rédaction, choix des sujets), pas de l'IT.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liens depuis des sites marocains crédibles sont ce qui fait monter un site dans Google au Maroc. Le baromètre data est l'action au meilleur rapport effort/retombées.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plupart des utilisateurs trouvent l'app depuis les stores : le référencement des fiches (ASO) fait partie du SEO au sens large.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Optimiser sur la première commande, pas sur l'installation : l'algorithme cherchera des gens qui commandent, pas des gens qui téléchargent. Il faut que l'événement « première commande » remonte bien dans Adjust et dans chaque plateforme.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L'angle MRE (« Commandez pour vos proches ») s'appuie sur une fonctionnalité qui existe déjà dans l'app. C'est une cible à fort pouvoir d'achat et peu disputée par les concurrents locaux.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Ramadan est le temps fort à ne pas rater : les habitudes de commande changent complètement (ftour, shour). Les créatifs doivent être tournés en janvier.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Sans rétention, chaque dirham d'acquisition est perdu au bout d'un mois. Le groupe témoin permet de prouver que la relance rapporte vraiment.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code promo par créateur est indispensable : sans lui, impossible de savoir quel influenceur rapporte des commandes.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Chaque phase se termine par une décision : ce qui marche reçoit plus de budget, ce qui ne marche pas est coupé.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répartition est un point de départ. Le pilotage hebdomadaire et la règle de coupe comptent plus que la répartition initiale.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Sans budget ni coût cible, le plan reste théorique. Ces trois décisions débloquent tout le reste.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106984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Yassir Maroc · Plan d'actions marketing · Novembre 2026 à février 2027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3-1.png"/><Relationship Id="rId3" Type="http://schemas.openxmlformats.org/officeDocument/2006/relationships/image" Target="../media/image-13-2.png"/><Relationship Id="rId4" Type="http://schemas.openxmlformats.org/officeDocument/2006/relationships/image" Target="../media/image-13-3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1069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Yassir Maroc : plan d'actions marketing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SEO par le marketing, campagnes ads et CRM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Novembre 2026 à février 2027 · version du 24 octobre 2026</a:t>
            </a:r>
            <a:endParaRPr lang="en-US" sz="1800" dirty="0"/>
          </a:p>
        </p:txBody>
      </p:sp>
      <p:sp>
        <p:nvSpPr>
          <p:cNvPr id="4" name="Plan circle"/>
          <p:cNvSpPr/>
          <p:nvPr/>
        </p:nvSpPr>
        <p:spPr>
          <a:xfrm>
            <a:off x="731520" y="9144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Plan icon" descr="Pl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715" y="1104595"/>
            <a:ext cx="351130" cy="35113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Quatre réalités avant de dépenser</a:t>
            </a:r>
            <a:endParaRPr lang="en-US" sz="3600" dirty="0"/>
          </a:p>
        </p:txBody>
      </p:sp>
      <p:sp>
        <p:nvSpPr>
          <p:cNvPr id="3" name="Le SEO paie dans 3 à 6 mois"/>
          <p:cNvSpPr/>
          <p:nvPr/>
        </p:nvSpPr>
        <p:spPr>
          <a:xfrm>
            <a:off x="548640" y="1417320"/>
            <a:ext cx="541782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Le SEO paie dans 3 à 6 mois circle"/>
          <p:cNvSpPr/>
          <p:nvPr/>
        </p:nvSpPr>
        <p:spPr>
          <a:xfrm>
            <a:off x="822960" y="169164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5" name="Le SEO paie dans 3 à 6 mois icon" descr="Le SEO paie dans 3 à 6 moi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834286"/>
            <a:ext cx="263347" cy="26334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1645920"/>
            <a:ext cx="42291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Le SEO paie dans 3 à 6 mois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691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Les actions SEO lancées en novembre porteront surtout au printemps. Pour des commandes dès ce trimestre, ce sont les ads et le CRM qui comptent.</a:t>
            </a:r>
            <a:endParaRPr lang="en-US" sz="1400" dirty="0"/>
          </a:p>
        </p:txBody>
      </p:sp>
      <p:sp>
        <p:nvSpPr>
          <p:cNvPr id="8" name="Les budgets ci-après sont des hypothèses"/>
          <p:cNvSpPr/>
          <p:nvPr/>
        </p:nvSpPr>
        <p:spPr>
          <a:xfrm>
            <a:off x="6195060" y="1417320"/>
            <a:ext cx="541782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9" name="Les budgets ci-après sont des hypothèses circle"/>
          <p:cNvSpPr/>
          <p:nvPr/>
        </p:nvSpPr>
        <p:spPr>
          <a:xfrm>
            <a:off x="6469380" y="169164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0" name="Les budgets ci-après sont des hypothèses icon" descr="Les budgets ci-après sont des hypothès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2026" y="183428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155180" y="1645920"/>
            <a:ext cx="42291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Les budgets ci-après sont des hypothèses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6469380" y="2377440"/>
            <a:ext cx="48691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Sans le budget, le coût par commande cible et l'historique des comptes ads, les répartitions sont un point de départ à recalibrer après 2 semaines.</a:t>
            </a:r>
            <a:endParaRPr lang="en-US" sz="1400" dirty="0"/>
          </a:p>
        </p:txBody>
      </p:sp>
      <p:sp>
        <p:nvSpPr>
          <p:cNvPr id="13" name="Ne pas écrire « VTC » dans les pubs"/>
          <p:cNvSpPr/>
          <p:nvPr/>
        </p:nvSpPr>
        <p:spPr>
          <a:xfrm>
            <a:off x="548640" y="3840480"/>
            <a:ext cx="541782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4" name="Ne pas écrire « VTC » dans les pubs circle"/>
          <p:cNvSpPr/>
          <p:nvPr/>
        </p:nvSpPr>
        <p:spPr>
          <a:xfrm>
            <a:off x="822960" y="411480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5" name="Ne pas écrire « VTC » dans les pubs icon" descr="Ne pas écrire « VTC » dans les pub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606" y="4257446"/>
            <a:ext cx="263347" cy="26334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508760" y="4069080"/>
            <a:ext cx="42291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Ne pas écrire « VTC » dans les pubs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822960" y="4800600"/>
            <a:ext cx="48691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Historique réglementaire à Casablanca : parler de « course » ou de « taxi » tant que le juridique n'a pas tranché. Un refus de pub ou un bad buzz coûte plus cher.</a:t>
            </a:r>
            <a:endParaRPr lang="en-US" sz="1400" dirty="0"/>
          </a:p>
        </p:txBody>
      </p:sp>
      <p:sp>
        <p:nvSpPr>
          <p:cNvPr id="18" name="Éviter les fêtes politiques"/>
          <p:cNvSpPr/>
          <p:nvPr/>
        </p:nvSpPr>
        <p:spPr>
          <a:xfrm>
            <a:off x="6195060" y="3840480"/>
            <a:ext cx="541782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9" name="Éviter les fêtes politiques circle"/>
          <p:cNvSpPr/>
          <p:nvPr/>
        </p:nvSpPr>
        <p:spPr>
          <a:xfrm>
            <a:off x="6469380" y="411480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0" name="Éviter les fêtes politiques icon" descr="Éviter les fêtes politiqu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2026" y="4257446"/>
            <a:ext cx="263347" cy="26334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155180" y="4069080"/>
            <a:ext cx="42291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Éviter les fêtes politiques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6469380" y="4800600"/>
            <a:ext cx="48691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Marque d'origine algérienne : une campagne sur la Marche Verte ou un thème patriotique est un risque de polémique élevé. Privilégier les moments de consommation.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Objectifs et indicateurs</a:t>
            </a:r>
            <a:endParaRPr lang="en-US" sz="3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743200"/>
                <a:gridCol w="4572000"/>
                <a:gridCol w="182880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Objectif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Indicateur principal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Indicateurs de suivi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Rythme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Acquérir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Coût par première commande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Installations, coût par installation, taux installation → commande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Hebdomadaire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Fidéliser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Rétention à 30 jours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Commandes par client actif, taux de réactivation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Hebdomadaire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Visibilité SEO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Clics organiques Maroc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Positions top 10 sur les requêtes villes, recherches « Yassir »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Mensuel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Réputation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Note sur les stores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Volume d'avis, taux de réponse aux avis, sentiment des commentaires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Mensuel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Cibles"/>
          <p:cNvSpPr/>
          <p:nvPr/>
        </p:nvSpPr>
        <p:spPr>
          <a:xfrm>
            <a:off x="548640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5" name="Cibles circle"/>
          <p:cNvSpPr/>
          <p:nvPr/>
        </p:nvSpPr>
        <p:spPr>
          <a:xfrm>
            <a:off x="777240" y="5230368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Cibles icon" descr="Cib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5373014"/>
            <a:ext cx="263347" cy="263347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508760" y="512064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Cibles chiffrées 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à fixer après 2 semaines de mesure de référence. Fixer une cible sans historique revient à piloter à l'aveugle.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SEO levier 1 : contenu local</a:t>
            </a:r>
            <a:endParaRPr lang="en-US" sz="3600" dirty="0"/>
          </a:p>
        </p:txBody>
      </p:sp>
      <p:sp>
        <p:nvSpPr>
          <p:cNvPr id="3" name="Pages villes rédigées par le marketing"/>
          <p:cNvSpPr/>
          <p:nvPr/>
        </p:nvSpPr>
        <p:spPr>
          <a:xfrm>
            <a:off x="548640" y="1417320"/>
            <a:ext cx="541782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Pages villes rédigées par le marketing circle"/>
          <p:cNvSpPr/>
          <p:nvPr/>
        </p:nvSpPr>
        <p:spPr>
          <a:xfrm>
            <a:off x="822960" y="16916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Pages villes rédigées par le marketing icon" descr="Pages villes rédigées par le market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834286"/>
            <a:ext cx="263347" cy="26334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1645920"/>
            <a:ext cx="42291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Pages villes rédigées par le marketing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691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Casablanca d'abord, puis Rabat, Marrakech, Tanger, Agadir. Par ville : quartiers desservis, restaurants phares, FAQ locale, en FR et en AR.</a:t>
            </a:r>
            <a:endParaRPr lang="en-US" sz="1400" dirty="0"/>
          </a:p>
        </p:txBody>
      </p:sp>
      <p:sp>
        <p:nvSpPr>
          <p:cNvPr id="8" name="Guides « food » locaux"/>
          <p:cNvSpPr/>
          <p:nvPr/>
        </p:nvSpPr>
        <p:spPr>
          <a:xfrm>
            <a:off x="6195060" y="1417320"/>
            <a:ext cx="541782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9" name="Guides « food » locaux circle"/>
          <p:cNvSpPr/>
          <p:nvPr/>
        </p:nvSpPr>
        <p:spPr>
          <a:xfrm>
            <a:off x="6469380" y="16916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Guides « food » locaux icon" descr="Guides « food » locau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2026" y="183428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155180" y="1645920"/>
            <a:ext cx="42291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Guides « food » locaux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6469380" y="2377440"/>
            <a:ext cx="48691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« Les meilleurs tajines livrés à Casablanca », « Où commander tard à Rabat », « Ftour livré : notre sélection ». 2 guides par mois.</a:t>
            </a:r>
            <a:endParaRPr lang="en-US" sz="1400" dirty="0"/>
          </a:p>
        </p:txBody>
      </p:sp>
      <p:sp>
        <p:nvSpPr>
          <p:cNvPr id="13" name="Portraits de restaurants partenaires"/>
          <p:cNvSpPr/>
          <p:nvPr/>
        </p:nvSpPr>
        <p:spPr>
          <a:xfrm>
            <a:off x="548640" y="3840480"/>
            <a:ext cx="541782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4" name="Portraits de restaurants partenaires circle"/>
          <p:cNvSpPr/>
          <p:nvPr/>
        </p:nvSpPr>
        <p:spPr>
          <a:xfrm>
            <a:off x="822960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Portraits de restaurants partenaires icon" descr="Portraits de restaurants partenair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606" y="4257446"/>
            <a:ext cx="263347" cy="26334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508760" y="4069080"/>
            <a:ext cx="42291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Portraits de restaurants partenaires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822960" y="4800600"/>
            <a:ext cx="48691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Une page par restaurant phare, partagée par le restaurant lui-même : contenu unique et partages gratuits.</a:t>
            </a:r>
            <a:endParaRPr lang="en-US" sz="1400" dirty="0"/>
          </a:p>
        </p:txBody>
      </p:sp>
      <p:sp>
        <p:nvSpPr>
          <p:cNvPr id="18" name="Pages routes Yassir Travel"/>
          <p:cNvSpPr/>
          <p:nvPr/>
        </p:nvSpPr>
        <p:spPr>
          <a:xfrm>
            <a:off x="6195060" y="3840480"/>
            <a:ext cx="541782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9" name="Pages routes Yassir Travel circle"/>
          <p:cNvSpPr/>
          <p:nvPr/>
        </p:nvSpPr>
        <p:spPr>
          <a:xfrm>
            <a:off x="6469380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Pages routes Yassir Travel icon" descr="Pages routes Yassir Trave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2026" y="4257446"/>
            <a:ext cx="263347" cy="26334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155180" y="4069080"/>
            <a:ext cx="42291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Pages routes Yassir Travel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6469380" y="4800600"/>
            <a:ext cx="48691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« Vol Casablanca–Paris pas cher », « Marrakech–Bruxelles » : des requêtes à forte demande, en lien avec les MRE.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6108192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Requêtes cibles et ordre de production à valider avec les volumes de Search Console.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SEO levier 2 : relations presse et liens</a:t>
            </a:r>
            <a:endParaRPr lang="en-US" sz="3600" dirty="0"/>
          </a:p>
        </p:txBody>
      </p:sp>
      <p:sp>
        <p:nvSpPr>
          <p:cNvPr id="3" name="Baromètre data « Ce que mange le Maroc »"/>
          <p:cNvSpPr/>
          <p:nvPr/>
        </p:nvSpPr>
        <p:spPr>
          <a:xfrm>
            <a:off x="548640" y="1417320"/>
            <a:ext cx="541782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Baromètre data « Ce que mange le Maroc » circle"/>
          <p:cNvSpPr/>
          <p:nvPr/>
        </p:nvSpPr>
        <p:spPr>
          <a:xfrm>
            <a:off x="822960" y="169164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Baromètre data « Ce que mange le Maroc » icon" descr="Baromètre data « Ce que mange le Maroc 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834286"/>
            <a:ext cx="263347" cy="26334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1645920"/>
            <a:ext cx="42291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Baromètre data « Ce que mange le Maroc »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691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Plats les plus commandés, heures de pointe, villes : une étude tirée des commandes, reprise par la presse. Chaque reprise apporte un lien vers yassir.com.</a:t>
            </a:r>
            <a:endParaRPr lang="en-US" sz="1400" dirty="0"/>
          </a:p>
        </p:txBody>
      </p:sp>
      <p:sp>
        <p:nvSpPr>
          <p:cNvPr id="8" name="Communiqués locaux réguliers"/>
          <p:cNvSpPr/>
          <p:nvPr/>
        </p:nvSpPr>
        <p:spPr>
          <a:xfrm>
            <a:off x="6195060" y="1417320"/>
            <a:ext cx="541782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9" name="Communiqués locaux réguliers circle"/>
          <p:cNvSpPr/>
          <p:nvPr/>
        </p:nvSpPr>
        <p:spPr>
          <a:xfrm>
            <a:off x="6469380" y="169164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Communiqués locaux réguliers icon" descr="Communiqués locaux réguli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2026" y="183428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155180" y="1645920"/>
            <a:ext cx="42291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Communiqués locaux réguliers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6469380" y="2377440"/>
            <a:ext cx="48691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Nouvelle ville, nouveau partenaire, chiffre clé : un communiqué par mois aux médias économiques et grand public marocains.</a:t>
            </a:r>
            <a:endParaRPr lang="en-US" sz="1400" dirty="0"/>
          </a:p>
        </p:txBody>
      </p:sp>
      <p:sp>
        <p:nvSpPr>
          <p:cNvPr id="13" name="Kit « Commandez sur Yassir » pour restaurants"/>
          <p:cNvSpPr/>
          <p:nvPr/>
        </p:nvSpPr>
        <p:spPr>
          <a:xfrm>
            <a:off x="548640" y="3840480"/>
            <a:ext cx="541782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4" name="Kit « Commandez sur Yassir » pour restaurants circle"/>
          <p:cNvSpPr/>
          <p:nvPr/>
        </p:nvSpPr>
        <p:spPr>
          <a:xfrm>
            <a:off x="822960" y="41148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5" name="Kit « Commandez sur Yassir » pour restaurants icon" descr="Kit « Commandez sur Yassir » pour restauran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606" y="4257446"/>
            <a:ext cx="263347" cy="26334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508760" y="4069080"/>
            <a:ext cx="42291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Kit « Commandez sur Yassir » pour restaurants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822960" y="4800600"/>
            <a:ext cx="48691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Badge et lien à placer sur le site, l'Instagram et le Google Maps de chaque restaurant partenaire.</a:t>
            </a:r>
            <a:endParaRPr lang="en-US" sz="1400" dirty="0"/>
          </a:p>
        </p:txBody>
      </p:sp>
      <p:sp>
        <p:nvSpPr>
          <p:cNvPr id="18" name="Partenariats écoles et événements"/>
          <p:cNvSpPr/>
          <p:nvPr/>
        </p:nvSpPr>
        <p:spPr>
          <a:xfrm>
            <a:off x="6195060" y="3840480"/>
            <a:ext cx="541782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9" name="Partenariats écoles et événements circle"/>
          <p:cNvSpPr/>
          <p:nvPr/>
        </p:nvSpPr>
        <p:spPr>
          <a:xfrm>
            <a:off x="6469380" y="41148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0" name="Partenariats écoles et événements icon" descr="Partenariats écoles et événement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2026" y="4257446"/>
            <a:ext cx="263347" cy="26334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155180" y="4069080"/>
            <a:ext cx="42291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Partenariats écoles et événements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6469380" y="4800600"/>
            <a:ext cx="48691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Universités, festivals, salons : offres étudiantes et sponsoring contre une mention avec lien sur leurs sites.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SEO levier 3 : stores, avis et marque</a:t>
            </a:r>
            <a:endParaRPr lang="en-US" sz="3600" dirty="0"/>
          </a:p>
        </p:txBody>
      </p:sp>
      <p:sp>
        <p:nvSpPr>
          <p:cNvPr id="3" name="Optimiser les fiches App Store et Play Store"/>
          <p:cNvSpPr/>
          <p:nvPr/>
        </p:nvSpPr>
        <p:spPr>
          <a:xfrm>
            <a:off x="548640" y="1417320"/>
            <a:ext cx="541782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Optimiser les fiches App Store et Play Store circle"/>
          <p:cNvSpPr/>
          <p:nvPr/>
        </p:nvSpPr>
        <p:spPr>
          <a:xfrm>
            <a:off x="822960" y="16916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Optimiser les fiches App Store et Play Store icon" descr="Optimiser les fiches App Store et Play Sto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834286"/>
            <a:ext cx="263347" cy="26334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1645920"/>
            <a:ext cx="42291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Optimiser les fiches App Store et Play Store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691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Titre et description en FR et AR avec « livraison repas », « courses », « taxi » + noms de villes. Captures d'écran adaptées au Maroc.</a:t>
            </a:r>
            <a:endParaRPr lang="en-US" sz="1400" dirty="0"/>
          </a:p>
        </p:txBody>
      </p:sp>
      <p:sp>
        <p:nvSpPr>
          <p:cNvPr id="8" name="Faire monter les avis"/>
          <p:cNvSpPr/>
          <p:nvPr/>
        </p:nvSpPr>
        <p:spPr>
          <a:xfrm>
            <a:off x="6195060" y="1417320"/>
            <a:ext cx="541782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9" name="Faire monter les avis circle"/>
          <p:cNvSpPr/>
          <p:nvPr/>
        </p:nvSpPr>
        <p:spPr>
          <a:xfrm>
            <a:off x="6469380" y="16916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aire monter les avis icon" descr="Faire monter les avi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2026" y="183428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155180" y="1645920"/>
            <a:ext cx="42291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Faire monter les avis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6469380" y="2377440"/>
            <a:ext cx="48691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Demande d'avis dans l'app juste après une commande réussie, jamais après un incident. Répondre à 100 % des avis négatifs sous 48 h.</a:t>
            </a:r>
            <a:endParaRPr lang="en-US" sz="1400" dirty="0"/>
          </a:p>
        </p:txBody>
      </p:sp>
      <p:sp>
        <p:nvSpPr>
          <p:cNvPr id="13" name="Faire chercher « Yassir »"/>
          <p:cNvSpPr/>
          <p:nvPr/>
        </p:nvSpPr>
        <p:spPr>
          <a:xfrm>
            <a:off x="548640" y="3840480"/>
            <a:ext cx="541782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4" name="Faire chercher « Yassir » circle"/>
          <p:cNvSpPr/>
          <p:nvPr/>
        </p:nvSpPr>
        <p:spPr>
          <a:xfrm>
            <a:off x="822960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Faire chercher « Yassir » icon" descr="Faire chercher « Yassir »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606" y="4257446"/>
            <a:ext cx="263347" cy="26334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508760" y="4069080"/>
            <a:ext cx="42291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Faire chercher « Yassir »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822960" y="4800600"/>
            <a:ext cx="48691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Chaque campagne ads et social augmente les recherches de marque, que Google interprète comme un signal de confiance.</a:t>
            </a:r>
            <a:endParaRPr lang="en-US" sz="1400" dirty="0"/>
          </a:p>
        </p:txBody>
      </p:sp>
      <p:sp>
        <p:nvSpPr>
          <p:cNvPr id="18" name="Ouvrir et relier TikTok"/>
          <p:cNvSpPr/>
          <p:nvPr/>
        </p:nvSpPr>
        <p:spPr>
          <a:xfrm>
            <a:off x="6195060" y="3840480"/>
            <a:ext cx="541782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9" name="Ouvrir et relier TikTok circle"/>
          <p:cNvSpPr/>
          <p:nvPr/>
        </p:nvSpPr>
        <p:spPr>
          <a:xfrm>
            <a:off x="6469380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Ouvrir et relier TikTok icon" descr="Ouvrir et relier TikTo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2026" y="4257446"/>
            <a:ext cx="263347" cy="26334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155180" y="4069080"/>
            <a:ext cx="42291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Ouvrir et relier TikTok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6469380" y="4800600"/>
            <a:ext cx="48691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Aucun lien TikTok aujourd'hui sur le site. Compte relié au site et aux fiches stores, publications régulières en darija.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Ads : quelle plateforme pour quel rôle</a:t>
            </a:r>
            <a:endParaRPr lang="en-US" sz="3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926080"/>
                <a:gridCol w="3840480"/>
                <a:gridCol w="13716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Plateforme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Rôle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Campagne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Part du budget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Meta (Facebook, Instagram)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Acquisition à grande échelle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Campagnes app optimisées sur la 1re commande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35 %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TikTok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Toucher les 18-30 ans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Campagnes app + contenus de créateurs boostés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25 %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Google App Campaigns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Couvrir Play Store, YouTube, Search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Optimisation sur la 1re commande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20 %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Google Search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Capter la demande existante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Marque + « livraison repas [ville] »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10 %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Apple Search Ads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Capter les recherches iPhone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Mots-clés marque et catégorie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5 %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Réserve de test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Tester de nouveaux formats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Snapchat, YouTube, influence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5 %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Répartition de départ (hypothèse), à réallouer chaque semaine vers les plateformes au meilleur coût par première commande.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Créatifs : quatre angles à tester</a:t>
            </a:r>
            <a:endParaRPr lang="en-US" sz="3600" dirty="0"/>
          </a:p>
        </p:txBody>
      </p:sp>
      <p:sp>
        <p:nvSpPr>
          <p:cNvPr id="3" name="Prix : la première commande offerte"/>
          <p:cNvSpPr/>
          <p:nvPr/>
        </p:nvSpPr>
        <p:spPr>
          <a:xfrm>
            <a:off x="548640" y="1417320"/>
            <a:ext cx="541782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4" name="Prix : la première commande offerte circle"/>
          <p:cNvSpPr/>
          <p:nvPr/>
        </p:nvSpPr>
        <p:spPr>
          <a:xfrm>
            <a:off x="822960" y="16916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Prix : la première commande offerte icon" descr="Prix : la première commande offer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834286"/>
            <a:ext cx="263347" cy="26334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1645920"/>
            <a:ext cx="42291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Prix : la première commande offerte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691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Code promo de bienvenue, livraison gratuite. Le levier le plus direct pour l'acquisition, à limiter dans le temps.</a:t>
            </a:r>
            <a:endParaRPr lang="en-US" sz="1400" dirty="0"/>
          </a:p>
        </p:txBody>
      </p:sp>
      <p:sp>
        <p:nvSpPr>
          <p:cNvPr id="8" name="Humour en darija, format UGC"/>
          <p:cNvSpPr/>
          <p:nvPr/>
        </p:nvSpPr>
        <p:spPr>
          <a:xfrm>
            <a:off x="6195060" y="1417320"/>
            <a:ext cx="541782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9" name="Humour en darija, format UGC circle"/>
          <p:cNvSpPr/>
          <p:nvPr/>
        </p:nvSpPr>
        <p:spPr>
          <a:xfrm>
            <a:off x="6469380" y="16916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Humour en darija, format UGC icon" descr="Humour en darija, format UGC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2026" y="183428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155180" y="1645920"/>
            <a:ext cx="42291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Humour en darija, format UGC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6469380" y="2377440"/>
            <a:ext cx="48691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Vidéos tournées au téléphone par des créateurs : la faim à minuit, le match entre amis, la pluie. Plus crédible qu'une pub studio.</a:t>
            </a:r>
            <a:endParaRPr lang="en-US" sz="1400" dirty="0"/>
          </a:p>
        </p:txBody>
      </p:sp>
      <p:sp>
        <p:nvSpPr>
          <p:cNvPr id="13" name="« Commandez pour vos proches »"/>
          <p:cNvSpPr/>
          <p:nvPr/>
        </p:nvSpPr>
        <p:spPr>
          <a:xfrm>
            <a:off x="548640" y="3703320"/>
            <a:ext cx="541782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4" name="« Commandez pour vos proches » circle"/>
          <p:cNvSpPr/>
          <p:nvPr/>
        </p:nvSpPr>
        <p:spPr>
          <a:xfrm>
            <a:off x="822960" y="39776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« Commandez pour vos proches » icon" descr="« Commandez pour vos proches »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606" y="4120286"/>
            <a:ext cx="263347" cy="26334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508760" y="3931920"/>
            <a:ext cx="42291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« Commandez pour vos proches »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822960" y="4663440"/>
            <a:ext cx="48691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Ciblage MRE en France, Belgique, Espagne, Italie : commander un repas ou une course pour la famille au Maroc. Angle peu exploité.</a:t>
            </a:r>
            <a:endParaRPr lang="en-US" sz="1400" dirty="0"/>
          </a:p>
        </p:txBody>
      </p:sp>
      <p:sp>
        <p:nvSpPr>
          <p:cNvPr id="18" name="Rapidité, sans promesse chiffrée"/>
          <p:cNvSpPr/>
          <p:nvPr/>
        </p:nvSpPr>
        <p:spPr>
          <a:xfrm>
            <a:off x="6195060" y="3703320"/>
            <a:ext cx="541782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9" name="Rapidité, sans promesse chiffrée circle"/>
          <p:cNvSpPr/>
          <p:nvPr/>
        </p:nvSpPr>
        <p:spPr>
          <a:xfrm>
            <a:off x="6469380" y="39776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Rapidité, sans promesse chiffrée icon" descr="Rapidité, sans promesse chiffré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2026" y="4120286"/>
            <a:ext cx="263347" cy="26334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155180" y="3931920"/>
            <a:ext cx="42291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Rapidité, sans promesse chiffrée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6469380" y="4663440"/>
            <a:ext cx="48691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« Livré pendant que vous mettez la table » plutôt que « en 35 minutes », tant que la promesse n'est pas sourcée.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852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Règle de test 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3 accroches par angle, renouvelées toutes les 2 semaines. Couper une pub après un budget de test sans première commande.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Calendrier des temps forts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Novembre</a:t>
            </a:r>
            <a:endParaRPr lang="en-US" sz="1600" dirty="0"/>
          </a:p>
        </p:txBody>
      </p:sp>
      <p:sp>
        <p:nvSpPr>
          <p:cNvPr id="4" name="Novembre"/>
          <p:cNvSpPr/>
          <p:nvPr/>
        </p:nvSpPr>
        <p:spPr>
          <a:xfrm>
            <a:off x="548640" y="1783080"/>
            <a:ext cx="2606040" cy="411480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5" name="Black Friday circle"/>
          <p:cNvSpPr/>
          <p:nvPr/>
        </p:nvSpPr>
        <p:spPr>
          <a:xfrm>
            <a:off x="822960" y="201168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Black Friday icon" descr="Black Frid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494" y="216621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7432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Black Friday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474720"/>
            <a:ext cx="21031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« Yassir Friday » : une semaine d'offres Food et Market autour du 27/11. Longs week-ends : offres génériques, sans thème national.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360420" y="137160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Décembre</a:t>
            </a:r>
            <a:endParaRPr lang="en-US" sz="1600" dirty="0"/>
          </a:p>
        </p:txBody>
      </p:sp>
      <p:sp>
        <p:nvSpPr>
          <p:cNvPr id="10" name="Décembre"/>
          <p:cNvSpPr/>
          <p:nvPr/>
        </p:nvSpPr>
        <p:spPr>
          <a:xfrm>
            <a:off x="3360420" y="1783080"/>
            <a:ext cx="2606040" cy="411480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1" name="Pluie et fin d'année circle"/>
          <p:cNvSpPr/>
          <p:nvPr/>
        </p:nvSpPr>
        <p:spPr>
          <a:xfrm>
            <a:off x="3634740" y="201168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Pluie et fin d'année icon" descr="Pluie et fin d'anné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9274" y="2166214"/>
            <a:ext cx="285293" cy="28529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34740" y="27432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Pluie et fin d'année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3634740" y="3474720"/>
            <a:ext cx="21031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Campagnes déclenchées par la météo (« Il pleut ? On livre »). Soirées du 31/12 : livraison tardive et courses.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6172200" y="137160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Janvier</a:t>
            </a:r>
            <a:endParaRPr lang="en-US" sz="1600" dirty="0"/>
          </a:p>
        </p:txBody>
      </p:sp>
      <p:sp>
        <p:nvSpPr>
          <p:cNvPr id="16" name="Janvier"/>
          <p:cNvSpPr/>
          <p:nvPr/>
        </p:nvSpPr>
        <p:spPr>
          <a:xfrm>
            <a:off x="6172200" y="1783080"/>
            <a:ext cx="2606040" cy="411480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7" name="Rentrée et Yennayer circle"/>
          <p:cNvSpPr/>
          <p:nvPr/>
        </p:nvSpPr>
        <p:spPr>
          <a:xfrm>
            <a:off x="6446520" y="201168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Rentrée et Yennayer icon" descr="Rentrée et Yennay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1054" y="2166214"/>
            <a:ext cx="285293" cy="285293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446520" y="27432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Rentrée et Yennayer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6446520" y="3474720"/>
            <a:ext cx="21031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Bonnes résolutions : offres healthy. Nouvel An amazigh (14/01) : sélection de plats régionaux. Tournage des créatifs Ramadan.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8983980" y="137160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Février</a:t>
            </a:r>
            <a:endParaRPr lang="en-US" sz="1600" dirty="0"/>
          </a:p>
        </p:txBody>
      </p:sp>
      <p:sp>
        <p:nvSpPr>
          <p:cNvPr id="22" name="Février"/>
          <p:cNvSpPr/>
          <p:nvPr/>
        </p:nvSpPr>
        <p:spPr>
          <a:xfrm>
            <a:off x="8983980" y="1783080"/>
            <a:ext cx="2606040" cy="411480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23" name="Ramadan (≈ 8-9/02) circle"/>
          <p:cNvSpPr/>
          <p:nvPr/>
        </p:nvSpPr>
        <p:spPr>
          <a:xfrm>
            <a:off x="9258300" y="2011680"/>
            <a:ext cx="594360" cy="59436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4" name="Ramadan (≈ 8-9/02) icon" descr="Ramadan (≈ 8-9/02)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2834" y="2166214"/>
            <a:ext cx="285293" cy="285293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258300" y="27432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Ramadan (≈ 8-9/02)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9258300" y="3474720"/>
            <a:ext cx="21031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 temps fort de l'année : ftour et shour livrés, courses avant la rupture du jeûne. Campagnes prêtes dès fin janvier.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Date de début du Ramadan 1448 estimée : à confirmer selon l'annonce officielle au Maroc.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 : faire revenir les clients</a:t>
            </a:r>
            <a:endParaRPr lang="en-US" sz="3600" dirty="0"/>
          </a:p>
        </p:txBody>
      </p:sp>
      <p:sp>
        <p:nvSpPr>
          <p:cNvPr id="3" name="Parrainage"/>
          <p:cNvSpPr/>
          <p:nvPr/>
        </p:nvSpPr>
        <p:spPr>
          <a:xfrm>
            <a:off x="548640" y="1417320"/>
            <a:ext cx="541782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Parrainage circle"/>
          <p:cNvSpPr/>
          <p:nvPr/>
        </p:nvSpPr>
        <p:spPr>
          <a:xfrm>
            <a:off x="822960" y="169164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Parrainage icon" descr="Parrain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834286"/>
            <a:ext cx="263347" cy="26334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1645920"/>
            <a:ext cx="42291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Parrainage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691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 code par client : une réduction pour le parrain et pour le filleul. Le canal d'acquisition le moins cher à mettre en place.</a:t>
            </a:r>
            <a:endParaRPr lang="en-US" sz="1400" dirty="0"/>
          </a:p>
        </p:txBody>
      </p:sp>
      <p:sp>
        <p:nvSpPr>
          <p:cNvPr id="8" name="Relance des inactifs"/>
          <p:cNvSpPr/>
          <p:nvPr/>
        </p:nvSpPr>
        <p:spPr>
          <a:xfrm>
            <a:off x="6195060" y="1417320"/>
            <a:ext cx="541782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9" name="Relance des inactifs circle"/>
          <p:cNvSpPr/>
          <p:nvPr/>
        </p:nvSpPr>
        <p:spPr>
          <a:xfrm>
            <a:off x="6469380" y="169164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Relance des inactifs icon" descr="Relance des inactif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2026" y="183428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155180" y="1645920"/>
            <a:ext cx="42291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Relance des inactifs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6469380" y="2377440"/>
            <a:ext cx="48691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Notification ou SMS à J+14 et J+30 sans commande, avec une offre progressive. Mesurer contre un groupe témoin sans relance.</a:t>
            </a:r>
            <a:endParaRPr lang="en-US" sz="1400" dirty="0"/>
          </a:p>
        </p:txBody>
      </p:sp>
      <p:sp>
        <p:nvSpPr>
          <p:cNvPr id="13" name="WhatsApp Business"/>
          <p:cNvSpPr/>
          <p:nvPr/>
        </p:nvSpPr>
        <p:spPr>
          <a:xfrm>
            <a:off x="548640" y="3840480"/>
            <a:ext cx="541782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4" name="WhatsApp Business circle"/>
          <p:cNvSpPr/>
          <p:nvPr/>
        </p:nvSpPr>
        <p:spPr>
          <a:xfrm>
            <a:off x="822960" y="41148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5" name="WhatsApp Business icon" descr="WhatsApp Busines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606" y="4257446"/>
            <a:ext cx="263347" cy="26334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508760" y="4069080"/>
            <a:ext cx="42291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WhatsApp Business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822960" y="4800600"/>
            <a:ext cx="48691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Canal le plus utilisé au Maroc : suivi de commande, offres ciblées sur abonnement, service client.</a:t>
            </a:r>
            <a:endParaRPr lang="en-US" sz="1400" dirty="0"/>
          </a:p>
        </p:txBody>
      </p:sp>
      <p:sp>
        <p:nvSpPr>
          <p:cNvPr id="18" name="Passer de Ride à Food"/>
          <p:cNvSpPr/>
          <p:nvPr/>
        </p:nvSpPr>
        <p:spPr>
          <a:xfrm>
            <a:off x="6195060" y="3840480"/>
            <a:ext cx="541782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9" name="Passer de Ride à Food circle"/>
          <p:cNvSpPr/>
          <p:nvPr/>
        </p:nvSpPr>
        <p:spPr>
          <a:xfrm>
            <a:off x="6469380" y="41148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0" name="Passer de Ride à Food icon" descr="Passer de Ride à Foo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2026" y="4257446"/>
            <a:ext cx="263347" cy="26334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155180" y="4069080"/>
            <a:ext cx="42291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Passer de Ride à Food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6469380" y="4800600"/>
            <a:ext cx="48691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Proposer Food aux clients Ride et inversement : un client multi-services commande plus souvent et reste plus longtemps.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Influence et communauté</a:t>
            </a:r>
            <a:endParaRPr lang="en-US" sz="3600" dirty="0"/>
          </a:p>
        </p:txBody>
      </p:sp>
      <p:sp>
        <p:nvSpPr>
          <p:cNvPr id="3" name="Micro-influenceurs food"/>
          <p:cNvSpPr/>
          <p:nvPr/>
        </p:nvSpPr>
        <p:spPr>
          <a:xfrm>
            <a:off x="548640" y="1417320"/>
            <a:ext cx="3535680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4" name="Micro-influenceurs food circle"/>
          <p:cNvSpPr/>
          <p:nvPr/>
        </p:nvSpPr>
        <p:spPr>
          <a:xfrm>
            <a:off x="822960" y="16916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Micro-influenceurs food icon" descr="Micro-influenceurs foo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834286"/>
            <a:ext cx="263347" cy="26334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1645920"/>
            <a:ext cx="234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Micro-influenceurs food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2987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10 à 15 créateurs de 10K à 100K abonnés à Casablanca, Rabat et Marrakech, chacun avec son code promo pour mesurer les ventes.</a:t>
            </a:r>
            <a:endParaRPr lang="en-US" sz="1400" dirty="0"/>
          </a:p>
        </p:txBody>
      </p:sp>
      <p:sp>
        <p:nvSpPr>
          <p:cNvPr id="8" name="Contenus créateurs boostés"/>
          <p:cNvSpPr/>
          <p:nvPr/>
        </p:nvSpPr>
        <p:spPr>
          <a:xfrm>
            <a:off x="4312920" y="1417320"/>
            <a:ext cx="3535680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9" name="Contenus créateurs boostés circle"/>
          <p:cNvSpPr/>
          <p:nvPr/>
        </p:nvSpPr>
        <p:spPr>
          <a:xfrm>
            <a:off x="4587240" y="16916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Contenus créateurs boostés icon" descr="Contenus créateurs boosté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9886" y="183428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273040" y="1645920"/>
            <a:ext cx="234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Contenus créateurs boostés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587240" y="2377440"/>
            <a:ext cx="2987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Republier les meilleures vidéos de créateurs comme pubs TikTok et Meta : souvent moins chères qu'un créatif produit en interne.</a:t>
            </a:r>
            <a:endParaRPr lang="en-US" sz="1400" dirty="0"/>
          </a:p>
        </p:txBody>
      </p:sp>
      <p:sp>
        <p:nvSpPr>
          <p:cNvPr id="13" name="Livreurs et chauffeurs ambassadeurs"/>
          <p:cNvSpPr/>
          <p:nvPr/>
        </p:nvSpPr>
        <p:spPr>
          <a:xfrm>
            <a:off x="8077200" y="1417320"/>
            <a:ext cx="3535680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14" name="Livreurs et chauffeurs ambassadeurs circle"/>
          <p:cNvSpPr/>
          <p:nvPr/>
        </p:nvSpPr>
        <p:spPr>
          <a:xfrm>
            <a:off x="8351520" y="16916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Livreurs et chauffeurs ambassadeurs icon" descr="Livreurs et chauffeurs ambassadeu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4166" y="1834286"/>
            <a:ext cx="263347" cy="26334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037320" y="1645920"/>
            <a:ext cx="234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Livreurs et chauffeurs ambassadeurs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8351520" y="2377440"/>
            <a:ext cx="2987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Témoignages vidéo pour le recrutement et pour la confiance des clients. Sert aussi la marque employeur.</a:t>
            </a:r>
            <a:endParaRPr lang="en-US" sz="1400" dirty="0"/>
          </a:p>
        </p:txBody>
      </p:sp>
      <p:sp>
        <p:nvSpPr>
          <p:cNvPr id="18" name="Règle influence"/>
          <p:cNvSpPr/>
          <p:nvPr/>
        </p:nvSpPr>
        <p:spPr>
          <a:xfrm>
            <a:off x="548640" y="4434840"/>
            <a:ext cx="1106424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19" name="Règle circle"/>
          <p:cNvSpPr/>
          <p:nvPr/>
        </p:nvSpPr>
        <p:spPr>
          <a:xfrm>
            <a:off x="822960" y="4800600"/>
            <a:ext cx="594360" cy="5943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0" name="Règle icon" descr="Règ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494" y="495513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45920" y="452628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Règle 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payer à la performance (code promo, commission) plutôt qu'au forfait, et valider chaque contenu avant publication, notamment sur les mentions « VTC » et les promesses de délai.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à 30, 60 et 90 jours</a:t>
            </a:r>
            <a:endParaRPr lang="en-US" sz="3600" dirty="0"/>
          </a:p>
        </p:txBody>
      </p:sp>
      <p:sp>
        <p:nvSpPr>
          <p:cNvPr id="3" name="30 jours"/>
          <p:cNvSpPr/>
          <p:nvPr/>
        </p:nvSpPr>
        <p:spPr>
          <a:xfrm>
            <a:off x="548640" y="1417320"/>
            <a:ext cx="3520440" cy="457200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/>
        </p:spPr>
      </p:sp>
      <p:sp>
        <p:nvSpPr>
          <p:cNvPr id="4" name="30 jours pastille"/>
          <p:cNvSpPr/>
          <p:nvPr/>
        </p:nvSpPr>
        <p:spPr>
          <a:xfrm>
            <a:off x="822960" y="1645920"/>
            <a:ext cx="1463040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30 jours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2423160" y="16459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Lancer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77440"/>
            <a:ext cx="30175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Mesure de référence : coût par commande, rétention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Campagnes Meta, TikTok et Google sur la 1re commande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Yassir Friday (Black Friday)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Page ville Casablanca et 2 guides food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Parrainage et relance des inactifs</a:t>
            </a:r>
            <a:endParaRPr lang="en-US" sz="1500" dirty="0"/>
          </a:p>
        </p:txBody>
      </p:sp>
      <p:sp>
        <p:nvSpPr>
          <p:cNvPr id="8" name="60 jours"/>
          <p:cNvSpPr/>
          <p:nvPr/>
        </p:nvSpPr>
        <p:spPr>
          <a:xfrm>
            <a:off x="4297680" y="1417320"/>
            <a:ext cx="3520440" cy="457200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/>
        </p:spPr>
      </p:sp>
      <p:sp>
        <p:nvSpPr>
          <p:cNvPr id="9" name="60 jours pastille"/>
          <p:cNvSpPr/>
          <p:nvPr/>
        </p:nvSpPr>
        <p:spPr>
          <a:xfrm>
            <a:off x="4572000" y="1645920"/>
            <a:ext cx="146304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0" y="16459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60 jours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6459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Optimiser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377440"/>
            <a:ext cx="30175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Réallouer le budget selon le coût par commande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Baromètre data et premier communiqué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Kit « Commandez sur Yassir » aux restaurants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Campagne pluie et fin d'année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Test de l'angle MRE</a:t>
            </a:r>
            <a:endParaRPr lang="en-US" sz="1500" dirty="0"/>
          </a:p>
        </p:txBody>
      </p:sp>
      <p:sp>
        <p:nvSpPr>
          <p:cNvPr id="13" name="90 jours"/>
          <p:cNvSpPr/>
          <p:nvPr/>
        </p:nvSpPr>
        <p:spPr>
          <a:xfrm>
            <a:off x="8046720" y="1417320"/>
            <a:ext cx="3520440" cy="457200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/>
        </p:spPr>
      </p:sp>
      <p:sp>
        <p:nvSpPr>
          <p:cNvPr id="14" name="90 jours pastille"/>
          <p:cNvSpPr/>
          <p:nvPr/>
        </p:nvSpPr>
        <p:spPr>
          <a:xfrm>
            <a:off x="8321040" y="1645920"/>
            <a:ext cx="146304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21040" y="16459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90 jours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9921240" y="16459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Accélérer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2377440"/>
            <a:ext cx="30175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Campagnes Ramadan prêtes et validées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Pages Rabat et Marrakech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Programme micro-influenceurs en place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Fiches stores optimisées FR et AR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Bilan : ce qu'on garde, ce qu'on coupe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 et pilotage</a:t>
            </a:r>
            <a:endParaRPr lang="en-US" sz="3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280160"/>
          <a:ext cx="56692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Un tableau de bord hebdomadaire circle"/>
          <p:cNvSpPr/>
          <p:nvPr/>
        </p:nvSpPr>
        <p:spPr>
          <a:xfrm>
            <a:off x="6400800" y="146304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Un tableau de bord hebdomadaire icon" descr="Un tableau de bord hebdomadai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5334" y="1617574"/>
            <a:ext cx="285293" cy="285293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178040" y="1463040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Un tableau de bord hebdomadaire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7178040" y="1920240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Coût par 1re commande et rétention, par plateforme et par ville.</a:t>
            </a:r>
            <a:endParaRPr lang="en-US" sz="1400" dirty="0"/>
          </a:p>
        </p:txBody>
      </p:sp>
      <p:sp>
        <p:nvSpPr>
          <p:cNvPr id="8" name="Un nommage de campagnes propre circle"/>
          <p:cNvSpPr/>
          <p:nvPr/>
        </p:nvSpPr>
        <p:spPr>
          <a:xfrm>
            <a:off x="6400800" y="292608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Un nommage de campagnes propre icon" descr="Un nommage de campagnes prop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5334" y="3080614"/>
            <a:ext cx="285293" cy="285293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178040" y="2926080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Un nommage de campagnes propre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7178040" y="3383280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Corriger « genreic_download_button » dans Adjust et fixer une convention de noms.</a:t>
            </a:r>
            <a:endParaRPr lang="en-US" sz="1400" dirty="0"/>
          </a:p>
        </p:txBody>
      </p:sp>
      <p:sp>
        <p:nvSpPr>
          <p:cNvPr id="12" name="Une règle de coupe circle"/>
          <p:cNvSpPr/>
          <p:nvPr/>
        </p:nvSpPr>
        <p:spPr>
          <a:xfrm>
            <a:off x="6400800" y="438912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Une règle de coupe icon" descr="Une règle de coup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5334" y="4543654"/>
            <a:ext cx="285293" cy="285293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178040" y="4389120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Une règle de coupe</a:t>
            </a:r>
            <a:endParaRPr lang="en-US" sz="1800" dirty="0"/>
          </a:p>
        </p:txBody>
      </p:sp>
      <p:sp>
        <p:nvSpPr>
          <p:cNvPr id="15" name="Text 9"/>
          <p:cNvSpPr txBox="1"/>
          <p:nvPr/>
        </p:nvSpPr>
        <p:spPr>
          <a:xfrm>
            <a:off x="7178040" y="4846320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Toute campagne au-dessus du coût cible pendant 7 jours perd son budget.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1069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qu'il faut décider maintenant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1. Le budget marketing sur 4 mois et le coût cible par première commande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2. Validation juridique du vocabulaire (« VTC », délais de livraison)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3. Lancement de la mesure de référence dès cette semaine, avant Black Friday</a:t>
            </a:r>
            <a:endParaRPr lang="en-US" sz="1800" dirty="0"/>
          </a:p>
        </p:txBody>
      </p:sp>
      <p:sp>
        <p:nvSpPr>
          <p:cNvPr id="4" name="Décisions circle"/>
          <p:cNvSpPr/>
          <p:nvPr/>
        </p:nvSpPr>
        <p:spPr>
          <a:xfrm>
            <a:off x="731520" y="9144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Décisions icon" descr="Décisio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715" y="1104595"/>
            <a:ext cx="351130" cy="35113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Yassir Plan Marketing">
  <a:themeElements>
    <a:clrScheme name="Yassir Plan Marketing">
      <a:dk1>
        <a:srgbClr val="1B1530"/>
      </a:dk1>
      <a:lt1>
        <a:srgbClr val="FFFFFF"/>
      </a:lt1>
      <a:dk2>
        <a:srgbClr val="2B0F66"/>
      </a:dk2>
      <a:lt2>
        <a:srgbClr val="F3EEFD"/>
      </a:lt2>
      <a:accent1>
        <a:srgbClr val="6D28D9"/>
      </a:accent1>
      <a:accent2>
        <a:srgbClr val="0E7F59"/>
      </a:accent2>
      <a:accent3>
        <a:srgbClr val="B86E00"/>
      </a:accent3>
      <a:accent4>
        <a:srgbClr val="C62F2F"/>
      </a:accent4>
      <a:accent5>
        <a:srgbClr val="6B6385"/>
      </a:accent5>
      <a:accent6>
        <a:srgbClr val="C9B8F5"/>
      </a:accent6>
      <a:hlink>
        <a:srgbClr val="6D28D9"/>
      </a:hlink>
      <a:folHlink>
        <a:srgbClr val="4C1D95"/>
      </a:folHlink>
    </a:clrScheme>
    <a:fontScheme name="Yassir Plan Marketing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Yassir Maroc - Plan d'actions marketing</dc:title>
  <dc:subject>PptxGenJS Presentation</dc:subject>
  <dc:creator>Service Marketing</dc:creator>
  <cp:lastModifiedBy>Service Marketing</cp:lastModifiedBy>
  <cp:revision>1</cp:revision>
  <dcterms:created xsi:type="dcterms:W3CDTF">2026-10-24T21:11:58Z</dcterms:created>
  <dcterms:modified xsi:type="dcterms:W3CDTF">2026-10-24T21:11:58Z</dcterms:modified>
</cp:coreProperties>
</file>