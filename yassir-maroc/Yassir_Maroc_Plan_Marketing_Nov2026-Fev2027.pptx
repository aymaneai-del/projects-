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adrage" id="{2950e990-0d63-0cb0-807a-91e39884a018}">
          <p14:sldIdLst>
            <p14:sldId id="256"/>
            <p14:sldId id="257"/>
            <p14:sldId id="258"/>
          </p14:sldIdLst>
        </p14:section>
        <p14:section name="SEO par le marketing" id="{17aad2a4-3c7c-002d-d3a9-7ed05a755d33}">
          <p14:sldIdLst>
            <p14:sldId id="259"/>
            <p14:sldId id="260"/>
            <p14:sldId id="261"/>
          </p14:sldIdLst>
        </p14:section>
        <p14:section name="Campagnes ads" id="{4126a110-6a6e-0a9f-3d58-85ff3a960dde}">
          <p14:sldIdLst>
            <p14:sldId id="262"/>
            <p14:sldId id="263"/>
            <p14:sldId id="264"/>
          </p14:sldIdLst>
        </p14:section>
        <p14:section name="Calendrier" id="{6ca3d49c-3e2d-67b1-7c1e-f0ce15e962f6}">
          <p14:sldIdLst>
            <p14:sldId id="265"/>
          </p14:sldIdLst>
        </p14:section>
        <p14:section name="CRM et influence" id="{19220b3a-3ef9-afe3-d23f-9e6baf437b5a}">
          <p14:sldIdLst>
            <p14:sldId id="266"/>
            <p14:sldId id="267"/>
          </p14:sldIdLst>
        </p14:section>
        <p14:section name="Plan d'action" id="{228f798f-29fb-6e1b-bbcd-fb45cd320366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0F66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2B0F66"/>
                </a:solidFill>
                <a:latin typeface="+mj-lt"/>
              </a:rPr>
              <a:t>Répartition des 200 000 DH par poste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bubble3D val="0"/>
            <c:spPr>
              <a:solidFill>
                <a:srgbClr val="B86E00"/>
              </a:solidFill>
              <a:effectLst/>
            </c:spPr>
          </c:dPt>
          <c:dPt>
            <c:idx val="2"/>
            <c:bubble3D val="0"/>
            <c:spPr>
              <a:solidFill>
                <a:srgbClr val="2B0F66"/>
              </a:solidFill>
              <a:effectLst/>
            </c:spPr>
          </c:dPt>
          <c:dPt>
            <c:idx val="3"/>
            <c:bubble3D val="0"/>
            <c:spPr>
              <a:solidFill>
                <a:srgbClr val="0E7F59"/>
              </a:solidFill>
              <a:effectLst/>
            </c:spPr>
          </c:dPt>
          <c:dPt>
            <c:idx val="4"/>
            <c:bubble3D val="0"/>
            <c:spPr>
              <a:solidFill>
                <a:srgbClr val="C9B8F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Ads : 130 000</c:v>
                </c:pt>
                <c:pt idx="1">
                  <c:v>Influence : 30 000</c:v>
                </c:pt>
                <c:pt idx="2">
                  <c:v>Contenu et RP : 20 000</c:v>
                </c:pt>
                <c:pt idx="3">
                  <c:v>CRM : 15 000</c:v>
                </c:pt>
                <c:pt idx="4">
                  <c:v>Réserve : 5 000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130000</c:v>
                </c:pt>
                <c:pt idx="1">
                  <c:v>30000</c:v>
                </c:pt>
                <c:pt idx="2">
                  <c:v>20000</c:v>
                </c:pt>
                <c:pt idx="3">
                  <c:v>15000</c:v>
                </c:pt>
                <c:pt idx="4">
                  <c:v>5000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solidFill>
                <a:srgbClr val="1B15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B0F66"/>
                </a:solidFill>
                <a:latin typeface="+mj-lt"/>
              </a:defRPr>
            </a:pPr>
            <a:r>
              <a:rPr sz="1400" b="0" i="0" u="none" strike="noStrike">
                <a:solidFill>
                  <a:srgbClr val="2B0F66"/>
                </a:solidFill>
                <a:latin typeface="+mj-lt"/>
              </a:rPr>
              <a:t>Phasage mensuel (milliers de DH)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 mensuel (DH)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5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Novembre</c:v>
                  </c:pt>
                  <c:pt idx="1">
                    <c:v>Décembre</c:v>
                  </c:pt>
                  <c:pt idx="2">
                    <c:v>Janvier</c:v>
                  </c:pt>
                  <c:pt idx="3">
                    <c:v>Février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40</c:v>
                </c:pt>
                <c:pt idx="3">
                  <c:v>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5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3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deck complète l'audit SEO technique : ici, uniquement des actions marketing, pilotables par l'équipe marketing, sur les quatre prochains mois.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Commencer par ces quatre points évite les deux erreurs classiques : attendre du SEO un effet immédiat, et dépenser sans règle de décision.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L'indicateur clé n'est pas l'installation mais la première commande : une installation sans commande est une dépense, pas un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site n'a aujourd'hui aucune page ville ni aucun article Maroc. C'est la plus grosse opportunité SEO, et elle relève du marketing (rédaction, choix des sujets), pas de l'IT.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liens depuis des sites marocains crédibles sont ce qui fait monter un site dans Google au Maroc. Le baromètre data est l'action au meilleur rapport effort/retombées.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plupart des utilisateurs trouvent l'app depuis les stores : le référencement des fiches (ASO) fait partie du SEO au sens large.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Optimiser sur la première commande, pas sur l'installation. Avec ce budget, mieux vaut 3 plateformes bien alimentées que 6 sous-alimentées : chaque ensemble de pubs a besoin d'un volume minimum de conversions par semaine pour sortir de la phase d'apprentissage.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tableau sert à cadrer les attentes : selon le coût réel par première commande, le même budget donne entre 1 300 et 3 250 nouveaux clients. C'est la rétention de ces clients qui décidera de la rentabilité.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L'angle MRE (« Commandez pour vos proches ») s'appuie sur une fonctionnalité qui existe déjà dans l'app. C'est une cible à fort pouvoir d'achat et peu disputée par les concurrents locaux.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Ramadan est le temps fort à ne pas rater : les habitudes de commande changent complètement (ftour, shour). Les créatifs doivent être tournés en janvier.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rétention, chaque dirham d'acquisition est perdu au bout d'un mois. Le groupe témoin permet de prouver que la relance rapporte vraiment.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code promo par créateur est indispensable : sans lui, impossible de savoir quel influenceur rapporte des commandes.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phase se termine par une décision : ce qui marche reçoit plus de budget, ce qui ne marche pas est coupé.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Novembre inclut Black Friday ; février concentre le Ramadan. Le budget doit pouvoir passer d'une plateforme à l'autre chaque semaine selon le coût par première commande.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budget est fixé ; il reste le coût cible, le financement des promos et la couverture de mars. La mesure de référence doit démarrer cette semaine, avant Black Friday.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Yassir Maroc · Plan d'actions marketing · Novembre 2026 à février 2027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14-1.png"/><Relationship Id="rId4" Type="http://schemas.openxmlformats.org/officeDocument/2006/relationships/image" Target="../media/image-14-2.png"/><Relationship Id="rId5" Type="http://schemas.openxmlformats.org/officeDocument/2006/relationships/image" Target="../media/image-14-3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Yassir Maroc : plan d'actions marketing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SEO par le marketing, campagnes ads et CRM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Novembre 2026 à février 2027 · version du 24 octobre 2026</a:t>
            </a:r>
            <a:endParaRPr lang="en-US" sz="1800" dirty="0"/>
          </a:p>
        </p:txBody>
      </p:sp>
      <p:sp>
        <p:nvSpPr>
          <p:cNvPr id="4" name="Plan circle"/>
          <p:cNvSpPr/>
          <p:nvPr/>
        </p:nvSpPr>
        <p:spPr>
          <a:xfrm>
            <a:off x="731520" y="914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lan icon" descr="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104595"/>
            <a:ext cx="351130" cy="3511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réalités avant de dépenser</a:t>
            </a:r>
            <a:endParaRPr lang="en-US" sz="3600" dirty="0"/>
          </a:p>
        </p:txBody>
      </p:sp>
      <p:sp>
        <p:nvSpPr>
          <p:cNvPr id="3" name="Le SEO paie dans 3 à 6 mois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Le SEO paie dans 3 à 6 mois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Le SEO paie dans 3 à 6 mois icon" descr="Le SEO paie dans 3 à 6 moi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 SEO paie dans 3 à 6 mois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actions SEO lancées en novembre porteront surtout au printemps. Pour des commandes dès ce trimestre, ce sont les ads et le CRM qui comptent.</a:t>
            </a:r>
            <a:endParaRPr lang="en-US" sz="1400" dirty="0"/>
          </a:p>
        </p:txBody>
      </p:sp>
      <p:sp>
        <p:nvSpPr>
          <p:cNvPr id="8" name="Le coût par commande reste inconnu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Le coût par commande reste inconnu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Le coût par commande reste inconnu icon" descr="Le coût par commande reste inconn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 coût par commande reste inconnu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budget est fixé (200 000 DH), mais sans coût cible ni historique des comptes ads, la répartition est un point de départ à recalibrer après 2 semaines.</a:t>
            </a:r>
            <a:endParaRPr lang="en-US" sz="1400" dirty="0"/>
          </a:p>
        </p:txBody>
      </p:sp>
      <p:sp>
        <p:nvSpPr>
          <p:cNvPr id="13" name="Ne pas écrire « VTC » dans les pub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Ne pas écrire « VTC » dans les pub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Ne pas écrire « VTC » dans les pubs icon" descr="Ne pas écrire « VTC » dans les pub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 pas écrire « VTC » dans les pubs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Historique réglementaire à Casablanca : parler de « course » ou de « taxi » tant que le juridique n'a pas tranché. Un refus de pub ou un bad buzz coûte plus cher.</a:t>
            </a:r>
            <a:endParaRPr lang="en-US" sz="1400" dirty="0"/>
          </a:p>
        </p:txBody>
      </p:sp>
      <p:sp>
        <p:nvSpPr>
          <p:cNvPr id="18" name="Éviter les fêtes politiques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Éviter les fêtes politiques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Éviter les fêtes politiques icon" descr="Éviter les fêtes politiqu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Éviter les fêtes politiques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Marque d'origine algérienne : une campagne sur la Marche Verte ou un thème patriotique est un risque de polémique élevé. Privilégier les moments de consommation.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Objectifs et indicateurs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743200"/>
                <a:gridCol w="4572000"/>
                <a:gridCol w="18288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Objectif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Indicateur principal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Indicateurs de suivi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Rythme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Acquérir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Coût par première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Installations, coût par installation, taux installation →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Hebdomadaire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Fidéliser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Rétention à 30 jours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Commandes par client actif, taux de réactivation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Hebdomadaire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Visibilité SEO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Clics organiques Maroc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Positions top 10 sur les requêtes villes, recherches « Yassir »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Mensuel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Réputation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Note sur les stores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Volume d'avis, taux de réponse aux avis, sentiment des commentaires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Mensuel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ibles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Cibles circle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Cibles icon" descr="Cib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51206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Cibles chiffrées 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à fixer après 2 semaines de mesure de référence. Fixer une cible sans historique revient à piloter à l'aveugle.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levier 1 : contenu local</a:t>
            </a:r>
            <a:endParaRPr lang="en-US" sz="3600" dirty="0"/>
          </a:p>
        </p:txBody>
      </p:sp>
      <p:sp>
        <p:nvSpPr>
          <p:cNvPr id="3" name="Pages villes rédigées par le marketing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Pages villes rédigées par le marketing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ages villes rédigées par le marketing icon" descr="Pages villes rédigées par le marke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Pages villes rédigées par le marketing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Casablanca d'abord, puis Rabat, Marrakech, Tanger, Agadir. Par ville : quartiers desservis, restaurants phares, FAQ locale, en FR et en AR.</a:t>
            </a:r>
            <a:endParaRPr lang="en-US" sz="1400" dirty="0"/>
          </a:p>
        </p:txBody>
      </p:sp>
      <p:sp>
        <p:nvSpPr>
          <p:cNvPr id="8" name="Guides « food » locaux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Guides « food » locaux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Guides « food » locaux icon" descr="Guides « food » locau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Guides « food » locaux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Les meilleurs tajines livrés à Casablanca », « Où commander tard à Rabat », « Ftour livré : notre sélection ». 2 guides par mois.</a:t>
            </a:r>
            <a:endParaRPr lang="en-US" sz="1400" dirty="0"/>
          </a:p>
        </p:txBody>
      </p:sp>
      <p:sp>
        <p:nvSpPr>
          <p:cNvPr id="13" name="Portraits de restaurants partenaire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Portraits de restaurants partenaire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Portraits de restaurants partenaires icon" descr="Portraits de restaurants partenai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Portraits de restaurants partenaires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 page par restaurant phare, partagée par le restaurant lui-même : contenu unique et partages gratuits.</a:t>
            </a:r>
            <a:endParaRPr lang="en-US" sz="1400" dirty="0"/>
          </a:p>
        </p:txBody>
      </p:sp>
      <p:sp>
        <p:nvSpPr>
          <p:cNvPr id="18" name="Pages routes Yassir Travel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Pages routes Yassir Travel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Pages routes Yassir Travel icon" descr="Pages routes Yassir Trave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Pages routes Yassir Travel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Vol Casablanca–Paris pas cher », « Marrakech–Bruxelles » : des requêtes à forte demande, en lien avec les MRE.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108192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Requêtes cibles et ordre de production à valider avec les volumes de Search Console.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levier 2 : relations presse et liens</a:t>
            </a:r>
            <a:endParaRPr lang="en-US" sz="3600" dirty="0"/>
          </a:p>
        </p:txBody>
      </p:sp>
      <p:sp>
        <p:nvSpPr>
          <p:cNvPr id="3" name="Baromètre data « Ce que mange le Maroc »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Baromètre data « Ce que mange le Maroc »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Baromètre data « Ce que mange le Maroc » icon" descr="Baromètre data « Ce que mange le Maroc 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Baromètre data « Ce que mange le Maroc »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Plats les plus commandés, heures de pointe, villes : une étude tirée des commandes, reprise par la presse. Chaque reprise apporte un lien vers yassir.com.</a:t>
            </a:r>
            <a:endParaRPr lang="en-US" sz="1400" dirty="0"/>
          </a:p>
        </p:txBody>
      </p:sp>
      <p:sp>
        <p:nvSpPr>
          <p:cNvPr id="8" name="Communiqués locaux régulier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Communiqués locaux régulier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Communiqués locaux réguliers icon" descr="Communiqués locaux réguli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Communiqués locaux réguliers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Nouvelle ville, nouveau partenaire, chiffre clé : un communiqué par mois aux médias économiques et grand public marocains.</a:t>
            </a:r>
            <a:endParaRPr lang="en-US" sz="1400" dirty="0"/>
          </a:p>
        </p:txBody>
      </p:sp>
      <p:sp>
        <p:nvSpPr>
          <p:cNvPr id="13" name="Kit « Commandez sur Yassir » pour restaurant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Kit « Commandez sur Yassir » pour restaurant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Kit « Commandez sur Yassir » pour restaurants icon" descr="Kit « Commandez sur Yassir » pour restaura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Kit « Commandez sur Yassir » pour restaurants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Badge et lien à placer sur le site, l'Instagram et le Google Maps de chaque restaurant partenaire.</a:t>
            </a:r>
            <a:endParaRPr lang="en-US" sz="1400" dirty="0"/>
          </a:p>
        </p:txBody>
      </p:sp>
      <p:sp>
        <p:nvSpPr>
          <p:cNvPr id="18" name="Partenariats écoles et événements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Partenariats écoles et événements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artenariats écoles et événements icon" descr="Partenariats écoles et événeme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Partenariats écoles et événements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Universités, festivals, salons : offres étudiantes et sponsoring contre une mention avec lien sur leurs sites.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levier 3 : stores, avis et marque</a:t>
            </a:r>
            <a:endParaRPr lang="en-US" sz="3600" dirty="0"/>
          </a:p>
        </p:txBody>
      </p:sp>
      <p:sp>
        <p:nvSpPr>
          <p:cNvPr id="3" name="Optimiser les fiches App Store et Play Store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Optimiser les fiches App Store et Play Store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Optimiser les fiches App Store et Play Store icon" descr="Optimiser les fiches App Store et Play Sto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Optimiser les fiches App Store et Play Store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Titre et description en FR et AR avec « livraison repas », « courses », « taxi » + noms de villes. Captures d'écran adaptées au Maroc.</a:t>
            </a:r>
            <a:endParaRPr lang="en-US" sz="1400" dirty="0"/>
          </a:p>
        </p:txBody>
      </p:sp>
      <p:sp>
        <p:nvSpPr>
          <p:cNvPr id="8" name="Faire monter les avi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aire monter les avi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aire monter les avis icon" descr="Faire monter les avi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Faire monter les avis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Demande d'avis dans l'app juste après une commande réussie, jamais après un incident. Répondre à 100 % des avis négatifs sous 48 h.</a:t>
            </a:r>
            <a:endParaRPr lang="en-US" sz="1400" dirty="0"/>
          </a:p>
        </p:txBody>
      </p:sp>
      <p:sp>
        <p:nvSpPr>
          <p:cNvPr id="13" name="Faire chercher « Yassir »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aire chercher « Yassir »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aire chercher « Yassir » icon" descr="Faire chercher « Yassir 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Faire chercher « Yassir »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Chaque campagne ads et social augmente les recherches de marque, que Google interprète comme un signal de confiance.</a:t>
            </a:r>
            <a:endParaRPr lang="en-US" sz="1400" dirty="0"/>
          </a:p>
        </p:txBody>
      </p:sp>
      <p:sp>
        <p:nvSpPr>
          <p:cNvPr id="18" name="Ouvrir et relier TikTok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Ouvrir et relier TikTok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Ouvrir et relier TikTok icon" descr="Ouvrir et relier TikTo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Ouvrir et relier TikTok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Aucun lien TikTok aujourd'hui sur le site. Compte relié au site et aux fiches stores, publications régulières en darija.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 : quelle plateforme pour quel rôle</a:t>
            </a:r>
            <a:endParaRPr lang="en-US" sz="3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365760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Plateforme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Rôle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Campagne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Budget 4 mois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 (Facebook, Instagram)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Acquisition principale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App, optimisée sur la 1re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65 000 DH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TikTok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Toucher les 18-30 ans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App + contenus de créateurs boostés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40 000 DH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Google App Campaigns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Android : Play Store, YouTube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Optimisée sur la 1re commande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15 000 DH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Capter la demande existante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Marque + « livraison repas Casablanca »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10 000 DH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Total ads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130 000 DH</a:t>
                      </a:r>
                      <a:endParaRPr lang="en-US" sz="14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Plateformes écartées"/>
          <p:cNvSpPr/>
          <p:nvPr/>
        </p:nvSpPr>
        <p:spPr>
          <a:xfrm>
            <a:off x="548640" y="502920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5" name="Écartées circle"/>
          <p:cNvSpPr/>
          <p:nvPr/>
        </p:nvSpPr>
        <p:spPr>
          <a:xfrm>
            <a:off x="777240" y="521208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Écartées icon" descr="Écarté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5354726"/>
            <a:ext cx="263347" cy="26334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Écartés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Apple Search Ads, Snapchat, YouTube seul. À 32 500 DH d'ads par mois, chaque plateforme en plus divise les conversions dont les algorithmes ont besoin pour apprendre.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200 000 DH : ce que ça impose</a:t>
            </a:r>
            <a:endParaRPr lang="en-US" sz="3600" dirty="0"/>
          </a:p>
        </p:txBody>
      </p:sp>
      <p:sp>
        <p:nvSpPr>
          <p:cNvPr id="3" name="Casablanca d'abord"/>
          <p:cNvSpPr/>
          <p:nvPr/>
        </p:nvSpPr>
        <p:spPr>
          <a:xfrm>
            <a:off x="548640" y="1417320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4" name="Casablanca d'abord circle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asablanca d'abord icon" descr="Casablanca d'ab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78856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0020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Casablanca d'abord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984248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Novembre et décembre sur Casablanca seule. Rabat et Marrakech en janvier si le coût par commande tient.</a:t>
            </a:r>
            <a:endParaRPr lang="en-US" sz="1400" dirty="0"/>
          </a:p>
        </p:txBody>
      </p:sp>
      <p:sp>
        <p:nvSpPr>
          <p:cNvPr id="8" name="Trois plateformes, pas six"/>
          <p:cNvSpPr/>
          <p:nvPr/>
        </p:nvSpPr>
        <p:spPr>
          <a:xfrm>
            <a:off x="548640" y="2898648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9" name="Trois plateformes, pas six circle"/>
          <p:cNvSpPr/>
          <p:nvPr/>
        </p:nvSpPr>
        <p:spPr>
          <a:xfrm>
            <a:off x="777240" y="31272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Trois plateformes, pas six icon" descr="Trois plateformes, pas si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269894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308152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Trois plateformes, pas six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3465576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Meta, TikTok et Google concentrent 130 000 DH ; le reste va à l'influence, au CRM et au contenu.</a:t>
            </a:r>
            <a:endParaRPr lang="en-US" sz="1400" dirty="0"/>
          </a:p>
        </p:txBody>
      </p:sp>
      <p:sp>
        <p:nvSpPr>
          <p:cNvPr id="13" name="Garder 35 % pour février"/>
          <p:cNvSpPr/>
          <p:nvPr/>
        </p:nvSpPr>
        <p:spPr>
          <a:xfrm>
            <a:off x="548640" y="4379976"/>
            <a:ext cx="548640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4" name="Garder 35 % pour février circle"/>
          <p:cNvSpPr/>
          <p:nvPr/>
        </p:nvSpPr>
        <p:spPr>
          <a:xfrm>
            <a:off x="777240" y="460857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Garder 35 % pour février icon" descr="Garder 35 % pour févri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51222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5628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Garder 35 % pour février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508760" y="4946904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70 000 DH en février pour le Ramadan. Attention : le Ramadan continue jusqu'à début mars, hors budget.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0" y="1417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Ordres de grandeur avec 130 000 DH d'ads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920240"/>
          <a:ext cx="52120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4688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Coût par 1re commande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1res commandes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 DH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≈ 3 250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DH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≈ 1 860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100 DH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≈ 1 300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B8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4"/>
          <p:cNvSpPr txBox="1"/>
          <p:nvPr/>
        </p:nvSpPr>
        <p:spPr>
          <a:xfrm>
            <a:off x="6400800" y="434340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Scénarios illustratifs, pas une prévision : le vrai coût sera connu après 2 semaines de campagne. Hors coût des codes promo, s'ils sont financés à part.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Créatifs : quatre angles à tester</a:t>
            </a:r>
            <a:endParaRPr lang="en-US" sz="3600" dirty="0"/>
          </a:p>
        </p:txBody>
      </p:sp>
      <p:sp>
        <p:nvSpPr>
          <p:cNvPr id="3" name="Prix : la première commande offerte"/>
          <p:cNvSpPr/>
          <p:nvPr/>
        </p:nvSpPr>
        <p:spPr>
          <a:xfrm>
            <a:off x="548640" y="1417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Prix : la première commande offerte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Prix : la première commande offerte icon" descr="Prix : la première commande offer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Prix : la première commande offerte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 promo de bienvenue, livraison gratuite. Le levier le plus direct pour l'acquisition, à limiter dans le temps.</a:t>
            </a:r>
            <a:endParaRPr lang="en-US" sz="1400" dirty="0"/>
          </a:p>
        </p:txBody>
      </p:sp>
      <p:sp>
        <p:nvSpPr>
          <p:cNvPr id="8" name="Humour en darija, format UGC"/>
          <p:cNvSpPr/>
          <p:nvPr/>
        </p:nvSpPr>
        <p:spPr>
          <a:xfrm>
            <a:off x="6195060" y="1417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9" name="Humour en darija, format UGC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Humour en darija, format UGC icon" descr="Humour en darija, format UG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Humour en darija, format UGC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Vidéos tournées au téléphone par des créateurs : la faim à minuit, le match entre amis, la pluie. Plus crédible qu'une pub studio.</a:t>
            </a:r>
            <a:endParaRPr lang="en-US" sz="1400" dirty="0"/>
          </a:p>
        </p:txBody>
      </p:sp>
      <p:sp>
        <p:nvSpPr>
          <p:cNvPr id="13" name="« Commandez pour vos proches »"/>
          <p:cNvSpPr/>
          <p:nvPr/>
        </p:nvSpPr>
        <p:spPr>
          <a:xfrm>
            <a:off x="548640" y="3703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4" name="« Commandez pour vos proches » 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« Commandez pour vos proches » icon" descr="« Commandez pour vos proches »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12028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931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« Commandez pour vos proches »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663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Ciblage MRE en France, Belgique, Espagne, Italie : commander un repas ou une course pour la famille au Maroc. Angle peu exploité.</a:t>
            </a:r>
            <a:endParaRPr lang="en-US" sz="1400" dirty="0"/>
          </a:p>
        </p:txBody>
      </p:sp>
      <p:sp>
        <p:nvSpPr>
          <p:cNvPr id="18" name="Rapidité, sans promesse chiffrée"/>
          <p:cNvSpPr/>
          <p:nvPr/>
        </p:nvSpPr>
        <p:spPr>
          <a:xfrm>
            <a:off x="6195060" y="3703320"/>
            <a:ext cx="541782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Rapidité, sans promesse chiffrée circle"/>
          <p:cNvSpPr/>
          <p:nvPr/>
        </p:nvSpPr>
        <p:spPr>
          <a:xfrm>
            <a:off x="6469380" y="3977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Rapidité, sans promesse chiffrée icon" descr="Rapidité, sans promesse chiffré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12028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3931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Rapidité, sans promesse chiffrée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663440"/>
            <a:ext cx="48691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Livré pendant que vous mettez la table » plutôt que « en 35 minutes », tant que la promesse n'est pas sourcée.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Règle de test 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 accroches par angle, renouvelées toutes les 2 semaines. Couper une pub après un budget de test sans première commande.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Calendrier des temps forts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Novembre</a:t>
            </a:r>
            <a:endParaRPr lang="en-US" sz="1600" dirty="0"/>
          </a:p>
        </p:txBody>
      </p:sp>
      <p:sp>
        <p:nvSpPr>
          <p:cNvPr id="4" name="Novembre"/>
          <p:cNvSpPr/>
          <p:nvPr/>
        </p:nvSpPr>
        <p:spPr>
          <a:xfrm>
            <a:off x="54864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Black Friday circle"/>
          <p:cNvSpPr/>
          <p:nvPr/>
        </p:nvSpPr>
        <p:spPr>
          <a:xfrm>
            <a:off x="822960" y="2011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Black Friday icon" descr="Black Fri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216621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Black Friday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 Yassir Friday » : une semaine d'offres Food et Market autour du 27/11. Longs week-ends : offres génériques, sans thème national.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36042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Décembre</a:t>
            </a:r>
            <a:endParaRPr lang="en-US" sz="1600" dirty="0"/>
          </a:p>
        </p:txBody>
      </p:sp>
      <p:sp>
        <p:nvSpPr>
          <p:cNvPr id="10" name="Décembre"/>
          <p:cNvSpPr/>
          <p:nvPr/>
        </p:nvSpPr>
        <p:spPr>
          <a:xfrm>
            <a:off x="336042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1" name="Pluie et fin d'année circle"/>
          <p:cNvSpPr/>
          <p:nvPr/>
        </p:nvSpPr>
        <p:spPr>
          <a:xfrm>
            <a:off x="3634740" y="2011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Pluie et fin d'année icon" descr="Pluie et fin d'anné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166214"/>
            <a:ext cx="285293" cy="28529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3474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Pluie et fin d'année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3474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Campagnes déclenchées par la météo (« Il pleut ? On livre »). Soirées du 31/12 : livraison tardive et courses.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Janvier</a:t>
            </a:r>
            <a:endParaRPr lang="en-US" sz="1600" dirty="0"/>
          </a:p>
        </p:txBody>
      </p:sp>
      <p:sp>
        <p:nvSpPr>
          <p:cNvPr id="16" name="Janvier"/>
          <p:cNvSpPr/>
          <p:nvPr/>
        </p:nvSpPr>
        <p:spPr>
          <a:xfrm>
            <a:off x="617220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7" name="Rentrée et Yennayer circle"/>
          <p:cNvSpPr/>
          <p:nvPr/>
        </p:nvSpPr>
        <p:spPr>
          <a:xfrm>
            <a:off x="6446520" y="2011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Rentrée et Yennayer icon" descr="Rentrée et Yennay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054" y="2166214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44652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Rentrée et Yennayer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Bonnes résolutions : offres healthy. Nouvel An amazigh (14/01) : sélection de plats régionaux. Tournage des créatifs Ramadan.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983980" y="137160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Février</a:t>
            </a:r>
            <a:endParaRPr lang="en-US" sz="1600" dirty="0"/>
          </a:p>
        </p:txBody>
      </p:sp>
      <p:sp>
        <p:nvSpPr>
          <p:cNvPr id="22" name="Février"/>
          <p:cNvSpPr/>
          <p:nvPr/>
        </p:nvSpPr>
        <p:spPr>
          <a:xfrm>
            <a:off x="8983980" y="1783080"/>
            <a:ext cx="2606040" cy="411480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23" name="Ramadan (≈ 8-9/02) circle"/>
          <p:cNvSpPr/>
          <p:nvPr/>
        </p:nvSpPr>
        <p:spPr>
          <a:xfrm>
            <a:off x="9258300" y="2011680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4" name="Ramadan (≈ 8-9/02) icon" descr="Ramadan (≈ 8-9/02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834" y="2166214"/>
            <a:ext cx="285293" cy="285293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58300" y="27432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Ramadan (≈ 8-9/02)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58300" y="3474720"/>
            <a:ext cx="21031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temps fort de l'année : ftour et shour livrés, courses avant la rupture du jeûne. Campagnes prêtes dès fin janvier.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Date de début du Ramadan 1448 estimée : à confirmer selon l'annonce officielle au Maroc.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: faire revenir les clients</a:t>
            </a:r>
            <a:endParaRPr lang="en-US" sz="3600" dirty="0"/>
          </a:p>
        </p:txBody>
      </p:sp>
      <p:sp>
        <p:nvSpPr>
          <p:cNvPr id="3" name="Parrainage"/>
          <p:cNvSpPr/>
          <p:nvPr/>
        </p:nvSpPr>
        <p:spPr>
          <a:xfrm>
            <a:off x="54864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Parrainage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Parrainage icon" descr="Parrain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Parrainage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code par client : une réduction pour le parrain et pour le filleul. Le canal d'acquisition le moins cher à mettre en place.</a:t>
            </a:r>
            <a:endParaRPr lang="en-US" sz="1400" dirty="0"/>
          </a:p>
        </p:txBody>
      </p:sp>
      <p:sp>
        <p:nvSpPr>
          <p:cNvPr id="8" name="Relance des inactifs"/>
          <p:cNvSpPr/>
          <p:nvPr/>
        </p:nvSpPr>
        <p:spPr>
          <a:xfrm>
            <a:off x="6195060" y="141732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Relance des inactifs circle"/>
          <p:cNvSpPr/>
          <p:nvPr/>
        </p:nvSpPr>
        <p:spPr>
          <a:xfrm>
            <a:off x="6469380" y="16916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Relance des inactifs icon" descr="Relance des inactif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02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55180" y="164592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Relance des inactifs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69380" y="237744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Notification ou SMS à J+14 et J+30 sans commande, avec une offre progressive. Mesurer contre un groupe témoin sans relance.</a:t>
            </a:r>
            <a:endParaRPr lang="en-US" sz="1400" dirty="0"/>
          </a:p>
        </p:txBody>
      </p:sp>
      <p:sp>
        <p:nvSpPr>
          <p:cNvPr id="13" name="WhatsApp Business"/>
          <p:cNvSpPr/>
          <p:nvPr/>
        </p:nvSpPr>
        <p:spPr>
          <a:xfrm>
            <a:off x="54864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WhatsApp Business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WhatsApp Business icon" descr="WhatsApp Busine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25744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WhatsApp Business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Canal le plus utilisé au Maroc : suivi de commande, offres ciblées sur abonnement, service client.</a:t>
            </a:r>
            <a:endParaRPr lang="en-US" sz="1400" dirty="0"/>
          </a:p>
        </p:txBody>
      </p:sp>
      <p:sp>
        <p:nvSpPr>
          <p:cNvPr id="18" name="Passer de Ride à Food"/>
          <p:cNvSpPr/>
          <p:nvPr/>
        </p:nvSpPr>
        <p:spPr>
          <a:xfrm>
            <a:off x="6195060" y="3840480"/>
            <a:ext cx="541782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Passer de Ride à Food circle"/>
          <p:cNvSpPr/>
          <p:nvPr/>
        </p:nvSpPr>
        <p:spPr>
          <a:xfrm>
            <a:off x="6469380" y="411480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Passer de Ride à Food icon" descr="Passer de Ride à Foo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026" y="425744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5180" y="4069080"/>
            <a:ext cx="42291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Passer de Ride à Food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6469380" y="4800600"/>
            <a:ext cx="48691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Proposer Food aux clients Ride et inversement : un client multi-services commande plus souvent et reste plus longtemps.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Influence et communauté</a:t>
            </a:r>
            <a:endParaRPr lang="en-US" sz="3600" dirty="0"/>
          </a:p>
        </p:txBody>
      </p:sp>
      <p:sp>
        <p:nvSpPr>
          <p:cNvPr id="3" name="Micro-influenceurs food"/>
          <p:cNvSpPr/>
          <p:nvPr/>
        </p:nvSpPr>
        <p:spPr>
          <a:xfrm>
            <a:off x="548640" y="1417320"/>
            <a:ext cx="3535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4" name="Micro-influenceurs food circle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Micro-influenceurs food icon" descr="Micro-influenceurs f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83428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4592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Micro-influenceurs food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298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8 à 10 créateurs de 10K à 100K abonnés, d'abord à Casablanca, chacun avec son code promo pour mesurer les ventes.</a:t>
            </a:r>
            <a:endParaRPr lang="en-US" sz="1400" dirty="0"/>
          </a:p>
        </p:txBody>
      </p:sp>
      <p:sp>
        <p:nvSpPr>
          <p:cNvPr id="8" name="Contenus créateurs boostés"/>
          <p:cNvSpPr/>
          <p:nvPr/>
        </p:nvSpPr>
        <p:spPr>
          <a:xfrm>
            <a:off x="4312920" y="1417320"/>
            <a:ext cx="3535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9" name="Contenus créateurs boostés circle"/>
          <p:cNvSpPr/>
          <p:nvPr/>
        </p:nvSpPr>
        <p:spPr>
          <a:xfrm>
            <a:off x="458724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Contenus créateurs boostés icon" descr="Contenus créateurs boosté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886" y="183428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73040" y="164592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Contenus créateurs boostés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87240" y="2377440"/>
            <a:ext cx="298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Republier les meilleures vidéos de créateurs comme pubs TikTok et Meta : souvent moins chères qu'un créatif produit en interne.</a:t>
            </a:r>
            <a:endParaRPr lang="en-US" sz="1400" dirty="0"/>
          </a:p>
        </p:txBody>
      </p:sp>
      <p:sp>
        <p:nvSpPr>
          <p:cNvPr id="13" name="Livreurs et chauffeurs ambassadeurs"/>
          <p:cNvSpPr/>
          <p:nvPr/>
        </p:nvSpPr>
        <p:spPr>
          <a:xfrm>
            <a:off x="8077200" y="1417320"/>
            <a:ext cx="3535680" cy="27432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/>
        </p:spPr>
      </p:sp>
      <p:sp>
        <p:nvSpPr>
          <p:cNvPr id="14" name="Livreurs et chauffeurs ambassadeurs circle"/>
          <p:cNvSpPr/>
          <p:nvPr/>
        </p:nvSpPr>
        <p:spPr>
          <a:xfrm>
            <a:off x="835152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Livreurs et chauffeurs ambassadeurs icon" descr="Livreurs et chauffeurs ambassadeu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166" y="183428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37320" y="1645920"/>
            <a:ext cx="234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Livreurs et chauffeurs ambassadeurs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51520" y="2377440"/>
            <a:ext cx="298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Témoignages vidéo pour le recrutement et pour la confiance des clients. Sert aussi la marque employeur.</a:t>
            </a:r>
            <a:endParaRPr lang="en-US" sz="1400" dirty="0"/>
          </a:p>
        </p:txBody>
      </p:sp>
      <p:sp>
        <p:nvSpPr>
          <p:cNvPr id="18" name="Règle influence"/>
          <p:cNvSpPr/>
          <p:nvPr/>
        </p:nvSpPr>
        <p:spPr>
          <a:xfrm>
            <a:off x="548640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Règle circle"/>
          <p:cNvSpPr/>
          <p:nvPr/>
        </p:nvSpPr>
        <p:spPr>
          <a:xfrm>
            <a:off x="822960" y="48006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Règle icon" descr="Règ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94" y="495513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645920" y="452628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 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payer à la performance (code promo, commission) plutôt qu'au forfait, et valider chaque contenu avant publication, notamment sur les mentions « VTC » et les promesses de délai.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à 30, 60 et 90 jours</a:t>
            </a:r>
            <a:endParaRPr lang="en-US" sz="3600" dirty="0"/>
          </a:p>
        </p:txBody>
      </p:sp>
      <p:sp>
        <p:nvSpPr>
          <p:cNvPr id="3" name="30 jours"/>
          <p:cNvSpPr/>
          <p:nvPr/>
        </p:nvSpPr>
        <p:spPr>
          <a:xfrm>
            <a:off x="548640" y="141732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30 jours pastille"/>
          <p:cNvSpPr/>
          <p:nvPr/>
        </p:nvSpPr>
        <p:spPr>
          <a:xfrm>
            <a:off x="822960" y="16459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30 jours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Lancer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Mesure de référence : coût par commande, rétention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Campagnes Meta, TikTok et Google sur la 1re commande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Yassir Friday (Black Friday)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 ville Casablanca et 2 guides food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Parrainage et relance des inactifs</a:t>
            </a:r>
            <a:endParaRPr lang="en-US" sz="1500" dirty="0"/>
          </a:p>
        </p:txBody>
      </p:sp>
      <p:sp>
        <p:nvSpPr>
          <p:cNvPr id="8" name="60 jours"/>
          <p:cNvSpPr/>
          <p:nvPr/>
        </p:nvSpPr>
        <p:spPr>
          <a:xfrm>
            <a:off x="4297680" y="141732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9" name="60 jours pastille"/>
          <p:cNvSpPr/>
          <p:nvPr/>
        </p:nvSpPr>
        <p:spPr>
          <a:xfrm>
            <a:off x="4572000" y="16459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60 jours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Optimiser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3774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Réallouer le budget selon le coût par commande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Baromètre data et premier communiqué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Kit « Commandez sur Yassir » aux restaurants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Campagne pluie et fin d'année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Test de l'angle MRE</a:t>
            </a:r>
            <a:endParaRPr lang="en-US" sz="1500" dirty="0"/>
          </a:p>
        </p:txBody>
      </p:sp>
      <p:sp>
        <p:nvSpPr>
          <p:cNvPr id="13" name="90 jours"/>
          <p:cNvSpPr/>
          <p:nvPr/>
        </p:nvSpPr>
        <p:spPr>
          <a:xfrm>
            <a:off x="8046720" y="141732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4" name="90 jours pastille"/>
          <p:cNvSpPr/>
          <p:nvPr/>
        </p:nvSpPr>
        <p:spPr>
          <a:xfrm>
            <a:off x="8321040" y="1645920"/>
            <a:ext cx="146304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90 jours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921240" y="1645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Accélérer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37744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Campagnes Ramadan prêtes et validées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Pages Rabat et Marrakech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Programme micro-influenceurs en place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Fiches stores optimisées FR et AR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Bilan : ce qu'on garde, ce qu'on coupe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et pilotage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280160"/>
          <a:ext cx="5486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Chart 1" descr=""/>
          <p:cNvGraphicFramePr/>
          <p:nvPr/>
        </p:nvGraphicFramePr>
        <p:xfrm>
          <a:off x="6126480" y="1280160"/>
          <a:ext cx="5486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ableau de bord hebdo circle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Tableau de bord hebdo icon" descr="Tableau de bord hebd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286" y="5309006"/>
            <a:ext cx="263347" cy="263347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234440" y="5120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Tableau de bord hebdo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1234440" y="5486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Coût par 1re commande et rétention, par plateforme.</a:t>
            </a:r>
            <a:endParaRPr lang="en-US" sz="1300" dirty="0"/>
          </a:p>
        </p:txBody>
      </p:sp>
      <p:sp>
        <p:nvSpPr>
          <p:cNvPr id="9" name="Nommage propre circle"/>
          <p:cNvSpPr/>
          <p:nvPr/>
        </p:nvSpPr>
        <p:spPr>
          <a:xfrm>
            <a:off x="4297680" y="5166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Nommage propre icon" descr="Nommage propr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326" y="5309006"/>
            <a:ext cx="263347" cy="263347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4983480" y="5120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Nommage propre</a:t>
            </a:r>
            <a:endParaRPr lang="en-US" sz="1600" dirty="0"/>
          </a:p>
        </p:txBody>
      </p:sp>
      <p:sp>
        <p:nvSpPr>
          <p:cNvPr id="12" name="Text 6"/>
          <p:cNvSpPr txBox="1"/>
          <p:nvPr/>
        </p:nvSpPr>
        <p:spPr>
          <a:xfrm>
            <a:off x="4983480" y="5486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Corriger « genreic » dans Adjust, fixer une convention.</a:t>
            </a:r>
            <a:endParaRPr lang="en-US" sz="1300" dirty="0"/>
          </a:p>
        </p:txBody>
      </p:sp>
      <p:sp>
        <p:nvSpPr>
          <p:cNvPr id="13" name="Règle de coupe circle"/>
          <p:cNvSpPr/>
          <p:nvPr/>
        </p:nvSpPr>
        <p:spPr>
          <a:xfrm>
            <a:off x="8046720" y="5166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Règle de coupe icon" descr="Règle de coup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9366" y="5309006"/>
            <a:ext cx="263347" cy="263347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8732520" y="51206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Règle de coupe</a:t>
            </a:r>
            <a:endParaRPr lang="en-US" sz="1600" dirty="0"/>
          </a:p>
        </p:txBody>
      </p:sp>
      <p:sp>
        <p:nvSpPr>
          <p:cNvPr id="16" name="Text 9"/>
          <p:cNvSpPr txBox="1"/>
          <p:nvPr/>
        </p:nvSpPr>
        <p:spPr>
          <a:xfrm>
            <a:off x="8732520" y="5486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Au-dessus du coût cible 7 jours de suite : budget retiré.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qu'il faut décider maintenant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1. Le coût cible par première commande, et qui finance les codes promo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2. Validation juridique du vocabulaire (« VTC », délais de livraison)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3. Un budget pour la fin du Ramadan en mars, hors des 200 000 DH</a:t>
            </a:r>
            <a:endParaRPr lang="en-US" sz="1800" dirty="0"/>
          </a:p>
        </p:txBody>
      </p:sp>
      <p:sp>
        <p:nvSpPr>
          <p:cNvPr id="4" name="Décisions circle"/>
          <p:cNvSpPr/>
          <p:nvPr/>
        </p:nvSpPr>
        <p:spPr>
          <a:xfrm>
            <a:off x="731520" y="9144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Décisions icon" descr="Décis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715" y="1104595"/>
            <a:ext cx="351130" cy="3511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Yassir Plan Marketing">
  <a:themeElements>
    <a:clrScheme name="Yassir Plan Marketing">
      <a:dk1>
        <a:srgbClr val="1B1530"/>
      </a:dk1>
      <a:lt1>
        <a:srgbClr val="FFFFFF"/>
      </a:lt1>
      <a:dk2>
        <a:srgbClr val="2B0F66"/>
      </a:dk2>
      <a:lt2>
        <a:srgbClr val="F3EEFD"/>
      </a:lt2>
      <a:accent1>
        <a:srgbClr val="6D28D9"/>
      </a:accent1>
      <a:accent2>
        <a:srgbClr val="0E7F59"/>
      </a:accent2>
      <a:accent3>
        <a:srgbClr val="B86E00"/>
      </a:accent3>
      <a:accent4>
        <a:srgbClr val="C62F2F"/>
      </a:accent4>
      <a:accent5>
        <a:srgbClr val="6B6385"/>
      </a:accent5>
      <a:accent6>
        <a:srgbClr val="C9B8F5"/>
      </a:accent6>
      <a:hlink>
        <a:srgbClr val="6D28D9"/>
      </a:hlink>
      <a:folHlink>
        <a:srgbClr val="4C1D95"/>
      </a:folHlink>
    </a:clrScheme>
    <a:fontScheme name="Yassir Plan Marketin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Yassir Maroc - Plan d'actions marketing</dc:title>
  <dc:subject>PptxGenJS Presentation</dc:subject>
  <dc:creator>Service Marketing</dc:creator>
  <cp:lastModifiedBy>Service Marketing</cp:lastModifiedBy>
  <cp:revision>1</cp:revision>
  <dcterms:created xsi:type="dcterms:W3CDTF">2026-10-24T21:15:25Z</dcterms:created>
  <dcterms:modified xsi:type="dcterms:W3CDTF">2026-10-24T21:15:25Z</dcterms:modified>
</cp:coreProperties>
</file>